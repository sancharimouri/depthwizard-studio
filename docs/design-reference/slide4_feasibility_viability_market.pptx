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dw_icon1.svg" ContentType="image/svg+xml"/>
  <Override PartName="/ppt/media/dw_icon10.svg" ContentType="image/svg+xml"/>
  <Override PartName="/ppt/media/dw_icon11.svg" ContentType="image/svg+xml"/>
  <Override PartName="/ppt/media/dw_icon12.svg" ContentType="image/svg+xml"/>
  <Override PartName="/ppt/media/dw_icon2.svg" ContentType="image/svg+xml"/>
  <Override PartName="/ppt/media/dw_icon3.svg" ContentType="image/svg+xml"/>
  <Override PartName="/ppt/media/dw_icon4.svg" ContentType="image/svg+xml"/>
  <Override PartName="/ppt/media/dw_icon5.svg" ContentType="image/svg+xml"/>
  <Override PartName="/ppt/media/dw_icon6.svg" ContentType="image/svg+xml"/>
  <Override PartName="/ppt/media/dw_icon7.svg" ContentType="image/svg+xml"/>
  <Override PartName="/ppt/media/dw_icon8.svg" ContentType="image/svg+xml"/>
  <Override PartName="/ppt/media/dw_icon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7" r:id="rId14"/>
  </p:sldIdLst>
  <p:sldSz cx="18288000" cy="10287000"/>
  <p:notesSz cx="6858000" cy="9144000"/>
  <p:embeddedFontLst>
    <p:embeddedFont>
      <p:font typeface="Montserrat Bold" charset="1" panose="00000800000000000000"/>
      <p:regular r:id="rId7"/>
    </p:embeddedFont>
    <p:embeddedFont>
      <p:font typeface="Montserrat Medium Italics" charset="1" panose="00000600000000000000"/>
      <p:regular r:id="rId8"/>
    </p:embeddedFont>
    <p:embeddedFont>
      <p:font typeface="Montserrat Bold Italics" charset="1" panose="00000800000000000000"/>
      <p:regular r:id="rId9"/>
    </p:embeddedFont>
    <p:embeddedFont>
      <p:font typeface="TT Drugs Bold" charset="1" panose="02000803060000020003"/>
      <p:regular r:id="rId10"/>
    </p:embeddedFont>
    <p:embeddedFont>
      <p:font typeface="Montserrat Ultra-Bold" charset="1" panose="00000900000000000000"/>
      <p:regular r:id="rId11"/>
    </p:embeddedFont>
    <p:embeddedFont>
      <p:font typeface="Montserrat Semi-Bold" charset="1" panose="00000700000000000000"/>
      <p:regular r:id="rId12"/>
    </p:embeddedFont>
    <p:embeddedFont>
      <p:font typeface="Rubik Distressed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7" Type="http://schemas.openxmlformats.org/officeDocument/2006/relationships/font" Target="fonts/font7.fntdata"/><Relationship Id="rId8" Type="http://schemas.openxmlformats.org/officeDocument/2006/relationships/font" Target="fonts/font8.fntdata"/><Relationship Id="rId9" Type="http://schemas.openxmlformats.org/officeDocument/2006/relationships/font" Target="fonts/font9.fntdata"/><Relationship Id="rId10" Type="http://schemas.openxmlformats.org/officeDocument/2006/relationships/font" Target="fonts/font10.fntdata"/><Relationship Id="rId11" Type="http://schemas.openxmlformats.org/officeDocument/2006/relationships/font" Target="fonts/font11.fntdata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dw_icon1.svg"/><Relationship Id="rId5" Type="http://schemas.openxmlformats.org/officeDocument/2006/relationships/image" Target="../media/image3.png"/><Relationship Id="rId6" Type="http://schemas.openxmlformats.org/officeDocument/2006/relationships/image" Target="../media/dw_icon2.svg"/><Relationship Id="rId7" Type="http://schemas.openxmlformats.org/officeDocument/2006/relationships/image" Target="../media/image4.png"/><Relationship Id="rId8" Type="http://schemas.openxmlformats.org/officeDocument/2006/relationships/image" Target="../media/dw_icon3.svg"/><Relationship Id="rId9" Type="http://schemas.openxmlformats.org/officeDocument/2006/relationships/image" Target="../media/image5.png"/><Relationship Id="rId10" Type="http://schemas.openxmlformats.org/officeDocument/2006/relationships/image" Target="../media/dw_icon4.svg"/><Relationship Id="rId11" Type="http://schemas.openxmlformats.org/officeDocument/2006/relationships/image" Target="../media/image6.png"/><Relationship Id="rId12" Type="http://schemas.openxmlformats.org/officeDocument/2006/relationships/image" Target="../media/image7.png"/><Relationship Id="rId13" Type="http://schemas.openxmlformats.org/officeDocument/2006/relationships/image" Target="../media/image8.png"/><Relationship Id="rId14" Type="http://schemas.openxmlformats.org/officeDocument/2006/relationships/image" Target="../media/image9.png"/><Relationship Id="rId15" Type="http://schemas.openxmlformats.org/officeDocument/2006/relationships/image" Target="../media/image10.png"/><Relationship Id="rId16" Type="http://schemas.openxmlformats.org/officeDocument/2006/relationships/image" Target="../media/image11.png"/><Relationship Id="rId17" Type="http://schemas.openxmlformats.org/officeDocument/2006/relationships/image" Target="../media/dw_icon5.svg"/><Relationship Id="rId18" Type="http://schemas.openxmlformats.org/officeDocument/2006/relationships/image" Target="../media/image12.png"/><Relationship Id="rId19" Type="http://schemas.openxmlformats.org/officeDocument/2006/relationships/image" Target="../media/dw_icon6.svg"/><Relationship Id="rId20" Type="http://schemas.openxmlformats.org/officeDocument/2006/relationships/image" Target="../media/dw_icon7.svg"/><Relationship Id="rId21" Type="http://schemas.openxmlformats.org/officeDocument/2006/relationships/image" Target="../media/dw_icon8.svg"/><Relationship Id="rId22" Type="http://schemas.openxmlformats.org/officeDocument/2006/relationships/image" Target="../media/dw_icon9.svg"/><Relationship Id="rId23" Type="http://schemas.openxmlformats.org/officeDocument/2006/relationships/image" Target="../media/dw_icon10.svg"/><Relationship Id="rId24" Type="http://schemas.openxmlformats.org/officeDocument/2006/relationships/image" Target="../media/dw_icon11.svg"/><Relationship Id="rId25" Type="http://schemas.openxmlformats.org/officeDocument/2006/relationships/image" Target="../media/dw_icon12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oval – Pseudome"/>
          <p:cNvGrpSpPr/>
          <p:nvPr/>
        </p:nvGrpSpPr>
        <p:grpSpPr>
          <a:xfrm>
            <a:off x="527050" y="374650"/>
            <a:ext cx="1908810" cy="1206500"/>
            <a:chOff x="527050" y="374650"/>
            <a:chExt cx="1908810" cy="1206500"/>
          </a:xfrm>
        </p:grpSpPr>
        <p:sp>
          <p:nvSpPr>
            <p:cNvPr id="3" name="oval"/>
            <p:cNvSpPr/>
            <p:nvPr/>
          </p:nvSpPr>
          <p:spPr>
            <a:xfrm>
              <a:off x="527050" y="374650"/>
              <a:ext cx="1879600" cy="1206500"/>
            </a:xfrm>
            <a:prstGeom prst="ellipse">
              <a:avLst/>
            </a:prstGeom>
            <a:noFill/>
            <a:ln w="38100">
              <a:solidFill>
                <a:srgbClr val="8064A2"/>
              </a:solidFill>
            </a:ln>
            <a:effectLst/>
          </p:spPr>
          <p:txBody>
            <a:bodyPr rtlCol="0" anchor="ctr"/>
            <a:lstStyle/>
            <a:p/>
          </p:txBody>
        </p:sp>
        <p:sp>
          <p:nvSpPr>
            <p:cNvPr id="4" name="oval – Pseudome"/>
            <p:cNvSpPr txBox="1"/>
            <p:nvPr/>
          </p:nvSpPr>
          <p:spPr>
            <a:xfrm>
              <a:off x="601662" y="793750"/>
              <a:ext cx="1834198" cy="3683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2400" b="0" i="0">
                  <a:solidFill>
                    <a:srgbClr val="001F5D"/>
                  </a:solidFill>
                  <a:latin typeface="Montserrat ExtraBold"/>
                  <a:ea typeface="Montserrat ExtraBold"/>
                  <a:cs typeface="Montserrat ExtraBold"/>
                </a:rPr>
                <a:t>Pseudo</a:t>
              </a:r>
              <a:r>
                <a:rPr sz="2400" b="0" i="0">
                  <a:solidFill>
                    <a:srgbClr val="E62900"/>
                  </a:solidFill>
                  <a:latin typeface="Montserrat ExtraBold"/>
                  <a:ea typeface="Montserrat ExtraBold"/>
                  <a:cs typeface="Montserrat ExtraBold"/>
                </a:rPr>
                <a:t>me</a:t>
              </a:r>
            </a:p>
          </p:txBody>
        </p:sp>
      </p:grpSp>
      <p:pic>
        <p:nvPicPr>
          <p:cNvPr id="5" name="SIH 2026 logo" descr="si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9700" y="204671"/>
            <a:ext cx="2438400" cy="1152759"/>
          </a:xfrm>
          <a:prstGeom prst="rect">
            <a:avLst/>
          </a:prstGeom>
        </p:spPr>
      </p:pic>
      <p:sp>
        <p:nvSpPr>
          <p:cNvPr id="6" name="rule"/>
          <p:cNvSpPr/>
          <p:nvPr/>
        </p:nvSpPr>
        <p:spPr>
          <a:xfrm>
            <a:off x="406400" y="1790700"/>
            <a:ext cx="17462500" cy="38100"/>
          </a:xfrm>
          <a:prstGeom prst="rect">
            <a:avLst/>
          </a:prstGeom>
          <a:solidFill>
            <a:srgbClr val="E0661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shape"/>
          <p:cNvSpPr/>
          <p:nvPr/>
        </p:nvSpPr>
        <p:spPr>
          <a:xfrm>
            <a:off x="412750" y="2190750"/>
            <a:ext cx="5575300" cy="5321300"/>
          </a:xfrm>
          <a:prstGeom prst="roundRect">
            <a:avLst>
              <a:gd name="adj" fmla="val 2744"/>
            </a:avLst>
          </a:prstGeom>
          <a:solidFill>
            <a:srgbClr val="FFFFFF"/>
          </a:solidFill>
          <a:ln w="12700">
            <a:solidFill>
              <a:srgbClr val="E0661A"/>
            </a:solidFill>
          </a:ln>
          <a:effectLst/>
        </p:spPr>
        <p:txBody>
          <a:bodyPr rtlCol="0" anchor="ctr"/>
          <a:lstStyle/>
          <a:p/>
        </p:txBody>
      </p:sp>
      <p:grpSp>
        <p:nvGrpSpPr>
          <p:cNvPr id="8" name="tab – FEASIBILITY"/>
          <p:cNvGrpSpPr/>
          <p:nvPr/>
        </p:nvGrpSpPr>
        <p:grpSpPr>
          <a:xfrm>
            <a:off x="406400" y="2006600"/>
            <a:ext cx="2476500" cy="381000"/>
            <a:chOff x="406400" y="2006600"/>
            <a:chExt cx="2476500" cy="381000"/>
          </a:xfrm>
        </p:grpSpPr>
        <p:sp>
          <p:nvSpPr>
            <p:cNvPr id="9" name="tab"/>
            <p:cNvSpPr/>
            <p:nvPr/>
          </p:nvSpPr>
          <p:spPr>
            <a:xfrm>
              <a:off x="406400" y="2006600"/>
              <a:ext cx="2476500" cy="381000"/>
            </a:xfrm>
            <a:prstGeom prst="roundRect">
              <a:avLst>
                <a:gd name="adj" fmla="val 30000"/>
              </a:avLst>
            </a:prstGeom>
            <a:solidFill>
              <a:srgbClr val="E0661A"/>
            </a:solidFill>
            <a:ln>
              <a:noFill/>
            </a:ln>
            <a:effectLst/>
          </p:spPr>
          <p:txBody>
            <a:bodyPr rtlCol="0" anchor="ctr"/>
            <a:lstStyle/>
            <a:p/>
          </p:txBody>
        </p:sp>
        <p:sp>
          <p:nvSpPr>
            <p:cNvPr id="10" name="tab – FEASIBILITY"/>
            <p:cNvSpPr txBox="1"/>
            <p:nvPr/>
          </p:nvSpPr>
          <p:spPr>
            <a:xfrm>
              <a:off x="977106" y="2076450"/>
              <a:ext cx="1668611" cy="2413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600" b="1" i="0" spc="32">
                  <a:solidFill>
                    <a:srgbClr val="FFFFFF"/>
                  </a:solidFill>
                  <a:latin typeface="Montserrat"/>
                  <a:ea typeface="Montserrat"/>
                  <a:cs typeface="Montserrat"/>
                </a:rPr>
                <a:t>FEASIBILITY</a:t>
              </a:r>
            </a:p>
          </p:txBody>
        </p:sp>
      </p:grpSp>
      <p:sp>
        <p:nvSpPr>
          <p:cNvPr id="11" name="shape"/>
          <p:cNvSpPr/>
          <p:nvPr/>
        </p:nvSpPr>
        <p:spPr>
          <a:xfrm>
            <a:off x="590550" y="2546350"/>
            <a:ext cx="622300" cy="622300"/>
          </a:xfrm>
          <a:prstGeom prst="roundRect">
            <a:avLst>
              <a:gd name="adj" fmla="val 23469"/>
            </a:avLst>
          </a:prstGeom>
          <a:solidFill>
            <a:srgbClr val="FFECEC"/>
          </a:solidFill>
          <a:ln w="12700">
            <a:solidFill>
              <a:srgbClr val="C00000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2" name="icon" descr="icon0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600" y="2692400"/>
            <a:ext cx="330200" cy="330200"/>
          </a:xfrm>
          <a:prstGeom prst="rect">
            <a:avLst/>
          </a:prstGeom>
        </p:spPr>
      </p:pic>
      <p:grpSp>
        <p:nvGrpSpPr>
          <p:cNvPr id="13" name="chip – DFC2019 · MAE 1.98 m · RMSE 3.49 m · r 0"/>
          <p:cNvGrpSpPr/>
          <p:nvPr/>
        </p:nvGrpSpPr>
        <p:grpSpPr>
          <a:xfrm>
            <a:off x="1377950" y="3244850"/>
            <a:ext cx="3319137" cy="254000"/>
            <a:chOff x="1377950" y="3244850"/>
            <a:chExt cx="3319137" cy="254000"/>
          </a:xfrm>
        </p:grpSpPr>
        <p:sp>
          <p:nvSpPr>
            <p:cNvPr id="14" name="chip"/>
            <p:cNvSpPr/>
            <p:nvPr/>
          </p:nvSpPr>
          <p:spPr>
            <a:xfrm>
              <a:off x="1377950" y="3244850"/>
              <a:ext cx="3258741" cy="254000"/>
            </a:xfrm>
            <a:prstGeom prst="roundRect">
              <a:avLst>
                <a:gd name="adj" fmla="val 50000"/>
              </a:avLst>
            </a:prstGeom>
            <a:solidFill>
              <a:srgbClr val="FFECEC"/>
            </a:solidFill>
            <a:ln w="12700">
              <a:solidFill>
                <a:srgbClr val="C00000"/>
              </a:solidFill>
            </a:ln>
            <a:effectLst/>
          </p:spPr>
          <p:txBody>
            <a:bodyPr rtlCol="0" anchor="ctr"/>
            <a:lstStyle/>
            <a:p/>
          </p:txBody>
        </p:sp>
        <p:sp>
          <p:nvSpPr>
            <p:cNvPr id="15" name="chip – DFC2019 · MAE 1.98 m · RMSE 3.49 m · r 0"/>
            <p:cNvSpPr txBox="1"/>
            <p:nvPr/>
          </p:nvSpPr>
          <p:spPr>
            <a:xfrm>
              <a:off x="1498600" y="3289300"/>
              <a:ext cx="3198487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19" b="1" i="0">
                  <a:solidFill>
                    <a:srgbClr val="C00000"/>
                  </a:solidFill>
                  <a:latin typeface="Montserrat"/>
                  <a:ea typeface="Montserrat"/>
                  <a:cs typeface="Montserrat"/>
                </a:rPr>
                <a:t>DFC2019 · MAE 1.98 m · RMSE 3.49 m · r 0.745</a:t>
              </a:r>
            </a:p>
          </p:txBody>
        </p:sp>
      </p:grpSp>
      <p:sp>
        <p:nvSpPr>
          <p:cNvPr id="16" name="shape"/>
          <p:cNvSpPr/>
          <p:nvPr/>
        </p:nvSpPr>
        <p:spPr>
          <a:xfrm>
            <a:off x="590550" y="3790950"/>
            <a:ext cx="622300" cy="622300"/>
          </a:xfrm>
          <a:prstGeom prst="roundRect">
            <a:avLst>
              <a:gd name="adj" fmla="val 23469"/>
            </a:avLst>
          </a:prstGeom>
          <a:solidFill>
            <a:srgbClr val="EAF2FD"/>
          </a:solidFill>
          <a:ln w="12700">
            <a:solidFill>
              <a:srgbClr val="0C62C6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" name="icon" descr="icon1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6600" y="3937000"/>
            <a:ext cx="330200" cy="330200"/>
          </a:xfrm>
          <a:prstGeom prst="rect">
            <a:avLst/>
          </a:prstGeom>
        </p:spPr>
      </p:pic>
      <p:grpSp>
        <p:nvGrpSpPr>
          <p:cNvPr id="18" name="chip – ≈0.3 s depth inference on CPU (measured)"/>
          <p:cNvGrpSpPr/>
          <p:nvPr/>
        </p:nvGrpSpPr>
        <p:grpSpPr>
          <a:xfrm>
            <a:off x="1377950" y="4489450"/>
            <a:ext cx="3135297" cy="254000"/>
            <a:chOff x="1377950" y="4489450"/>
            <a:chExt cx="3135297" cy="254000"/>
          </a:xfrm>
        </p:grpSpPr>
        <p:sp>
          <p:nvSpPr>
            <p:cNvPr id="19" name="chip"/>
            <p:cNvSpPr/>
            <p:nvPr/>
          </p:nvSpPr>
          <p:spPr>
            <a:xfrm>
              <a:off x="1377950" y="4489450"/>
              <a:ext cx="3085306" cy="254000"/>
            </a:xfrm>
            <a:prstGeom prst="roundRect">
              <a:avLst>
                <a:gd name="adj" fmla="val 50000"/>
              </a:avLst>
            </a:prstGeom>
            <a:solidFill>
              <a:srgbClr val="EAF2FD"/>
            </a:solidFill>
            <a:ln w="12700">
              <a:solidFill>
                <a:srgbClr val="0C62C6"/>
              </a:solidFill>
            </a:ln>
            <a:effectLst/>
          </p:spPr>
          <p:txBody>
            <a:bodyPr rtlCol="0" anchor="ctr"/>
            <a:lstStyle/>
            <a:p/>
          </p:txBody>
        </p:sp>
        <p:sp>
          <p:nvSpPr>
            <p:cNvPr id="20" name="chip – ≈0.3 s depth inference on CPU (measured)"/>
            <p:cNvSpPr txBox="1"/>
            <p:nvPr/>
          </p:nvSpPr>
          <p:spPr>
            <a:xfrm>
              <a:off x="1498600" y="4533900"/>
              <a:ext cx="3014647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19" b="1" i="0">
                  <a:solidFill>
                    <a:srgbClr val="0C62C6"/>
                  </a:solidFill>
                  <a:latin typeface="Montserrat"/>
                  <a:ea typeface="Montserrat"/>
                  <a:cs typeface="Montserrat"/>
                </a:rPr>
                <a:t>≈0.3 s depth inference on CPU (measured)</a:t>
              </a:r>
            </a:p>
          </p:txBody>
        </p:sp>
      </p:grpSp>
      <p:sp>
        <p:nvSpPr>
          <p:cNvPr id="21" name="shape"/>
          <p:cNvSpPr/>
          <p:nvPr/>
        </p:nvSpPr>
        <p:spPr>
          <a:xfrm>
            <a:off x="590550" y="5035550"/>
            <a:ext cx="622300" cy="622300"/>
          </a:xfrm>
          <a:prstGeom prst="roundRect">
            <a:avLst>
              <a:gd name="adj" fmla="val 23469"/>
            </a:avLst>
          </a:prstGeom>
          <a:solidFill>
            <a:srgbClr val="FFF1E6"/>
          </a:solidFill>
          <a:ln w="12700">
            <a:solidFill>
              <a:srgbClr val="E0661A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22" name="icon" descr="icon2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6600" y="5181600"/>
            <a:ext cx="330200" cy="330200"/>
          </a:xfrm>
          <a:prstGeom prst="rect">
            <a:avLst/>
          </a:prstGeom>
        </p:spPr>
      </p:pic>
      <p:grpSp>
        <p:nvGrpSpPr>
          <p:cNvPr id="23" name="chip – 585 free GPU calls/day ≈ 30–60 full demo"/>
          <p:cNvGrpSpPr/>
          <p:nvPr/>
        </p:nvGrpSpPr>
        <p:grpSpPr>
          <a:xfrm>
            <a:off x="1377950" y="5734050"/>
            <a:ext cx="3090283" cy="254000"/>
            <a:chOff x="1377950" y="5734050"/>
            <a:chExt cx="3090283" cy="254000"/>
          </a:xfrm>
        </p:grpSpPr>
        <p:sp>
          <p:nvSpPr>
            <p:cNvPr id="24" name="chip"/>
            <p:cNvSpPr/>
            <p:nvPr/>
          </p:nvSpPr>
          <p:spPr>
            <a:xfrm>
              <a:off x="1377950" y="5734050"/>
              <a:ext cx="3042841" cy="254000"/>
            </a:xfrm>
            <a:prstGeom prst="roundRect">
              <a:avLst>
                <a:gd name="adj" fmla="val 50000"/>
              </a:avLst>
            </a:prstGeom>
            <a:solidFill>
              <a:srgbClr val="FFF1E6"/>
            </a:solidFill>
            <a:ln w="12700">
              <a:solidFill>
                <a:srgbClr val="E0661A"/>
              </a:solidFill>
            </a:ln>
            <a:effectLst/>
          </p:spPr>
          <p:txBody>
            <a:bodyPr rtlCol="0" anchor="ctr"/>
            <a:lstStyle/>
            <a:p/>
          </p:txBody>
        </p:sp>
        <p:sp>
          <p:nvSpPr>
            <p:cNvPr id="25" name="chip – 585 free GPU calls/day ≈ 30–60 full demo"/>
            <p:cNvSpPr txBox="1"/>
            <p:nvPr/>
          </p:nvSpPr>
          <p:spPr>
            <a:xfrm>
              <a:off x="1498600" y="5778500"/>
              <a:ext cx="2969633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19" b="1" i="0">
                  <a:solidFill>
                    <a:srgbClr val="E0661A"/>
                  </a:solidFill>
                  <a:latin typeface="Montserrat"/>
                  <a:ea typeface="Montserrat"/>
                  <a:cs typeface="Montserrat"/>
                </a:rPr>
                <a:t>585 free GPU calls/day ≈ 30–60 full demos</a:t>
              </a:r>
            </a:p>
          </p:txBody>
        </p:sp>
      </p:grpSp>
      <p:sp>
        <p:nvSpPr>
          <p:cNvPr id="26" name="shape"/>
          <p:cNvSpPr/>
          <p:nvPr/>
        </p:nvSpPr>
        <p:spPr>
          <a:xfrm>
            <a:off x="590550" y="6280150"/>
            <a:ext cx="622300" cy="622300"/>
          </a:xfrm>
          <a:prstGeom prst="roundRect">
            <a:avLst>
              <a:gd name="adj" fmla="val 23469"/>
            </a:avLst>
          </a:prstGeom>
          <a:solidFill>
            <a:srgbClr val="E8F5EC"/>
          </a:solidFill>
          <a:ln w="12700">
            <a:solidFill>
              <a:srgbClr val="0F7B3D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27" name="icon" descr="icon3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6600" y="6426200"/>
            <a:ext cx="330200" cy="330200"/>
          </a:xfrm>
          <a:prstGeom prst="rect">
            <a:avLst/>
          </a:prstGeom>
        </p:spPr>
      </p:pic>
      <p:grpSp>
        <p:nvGrpSpPr>
          <p:cNvPr id="28" name="chip – 88 curated tiles ready in-app"/>
          <p:cNvGrpSpPr/>
          <p:nvPr/>
        </p:nvGrpSpPr>
        <p:grpSpPr>
          <a:xfrm>
            <a:off x="1377950" y="6978650"/>
            <a:ext cx="2184995" cy="254000"/>
            <a:chOff x="1377950" y="6978650"/>
            <a:chExt cx="2184995" cy="254000"/>
          </a:xfrm>
        </p:grpSpPr>
        <p:sp>
          <p:nvSpPr>
            <p:cNvPr id="29" name="chip"/>
            <p:cNvSpPr/>
            <p:nvPr/>
          </p:nvSpPr>
          <p:spPr>
            <a:xfrm>
              <a:off x="1377950" y="6978650"/>
              <a:ext cx="2184995" cy="254000"/>
            </a:xfrm>
            <a:prstGeom prst="roundRect">
              <a:avLst>
                <a:gd name="adj" fmla="val 50000"/>
              </a:avLst>
            </a:prstGeom>
            <a:solidFill>
              <a:srgbClr val="E8F5EC"/>
            </a:solidFill>
            <a:ln w="12700">
              <a:solidFill>
                <a:srgbClr val="0F7B3D"/>
              </a:solidFill>
            </a:ln>
            <a:effectLst/>
          </p:spPr>
          <p:txBody>
            <a:bodyPr rtlCol="0" anchor="ctr"/>
            <a:lstStyle/>
            <a:p/>
          </p:txBody>
        </p:sp>
        <p:sp>
          <p:nvSpPr>
            <p:cNvPr id="30" name="chip – 88 curated tiles ready in-app"/>
            <p:cNvSpPr txBox="1"/>
            <p:nvPr/>
          </p:nvSpPr>
          <p:spPr>
            <a:xfrm>
              <a:off x="1498600" y="7023100"/>
              <a:ext cx="2060317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19" b="1" i="0">
                  <a:solidFill>
                    <a:srgbClr val="0F7B3D"/>
                  </a:solidFill>
                  <a:latin typeface="Montserrat"/>
                  <a:ea typeface="Montserrat"/>
                  <a:cs typeface="Montserrat"/>
                </a:rPr>
                <a:t>88 curated tiles ready in-app</a:t>
              </a:r>
            </a:p>
          </p:txBody>
        </p:sp>
      </p:grpSp>
      <p:sp>
        <p:nvSpPr>
          <p:cNvPr id="31" name="shape"/>
          <p:cNvSpPr/>
          <p:nvPr/>
        </p:nvSpPr>
        <p:spPr>
          <a:xfrm>
            <a:off x="6178550" y="2190750"/>
            <a:ext cx="5956300" cy="5321300"/>
          </a:xfrm>
          <a:prstGeom prst="roundRect">
            <a:avLst>
              <a:gd name="adj" fmla="val 2744"/>
            </a:avLst>
          </a:prstGeom>
          <a:solidFill>
            <a:srgbClr val="FFFFFF"/>
          </a:solidFill>
          <a:ln w="12700">
            <a:solidFill>
              <a:srgbClr val="0C62C6"/>
            </a:solidFill>
          </a:ln>
          <a:effectLst/>
        </p:spPr>
        <p:txBody>
          <a:bodyPr rtlCol="0" anchor="ctr"/>
          <a:lstStyle/>
          <a:p/>
        </p:txBody>
      </p:sp>
      <p:grpSp>
        <p:nvGrpSpPr>
          <p:cNvPr id="32" name="tab – PROOF IT RUNS"/>
          <p:cNvGrpSpPr/>
          <p:nvPr/>
        </p:nvGrpSpPr>
        <p:grpSpPr>
          <a:xfrm>
            <a:off x="6172200" y="2006600"/>
            <a:ext cx="2569269" cy="381000"/>
            <a:chOff x="6172200" y="2006600"/>
            <a:chExt cx="2569269" cy="381000"/>
          </a:xfrm>
        </p:grpSpPr>
        <p:sp>
          <p:nvSpPr>
            <p:cNvPr id="33" name="tab"/>
            <p:cNvSpPr/>
            <p:nvPr/>
          </p:nvSpPr>
          <p:spPr>
            <a:xfrm>
              <a:off x="6172200" y="2006600"/>
              <a:ext cx="2540000" cy="381000"/>
            </a:xfrm>
            <a:prstGeom prst="roundRect">
              <a:avLst>
                <a:gd name="adj" fmla="val 30000"/>
              </a:avLst>
            </a:prstGeom>
            <a:solidFill>
              <a:srgbClr val="0C62C6"/>
            </a:solidFill>
            <a:ln>
              <a:noFill/>
            </a:ln>
            <a:effectLst/>
          </p:spPr>
          <p:txBody>
            <a:bodyPr rtlCol="0" anchor="ctr"/>
            <a:lstStyle/>
            <a:p/>
          </p:txBody>
        </p:sp>
        <p:sp>
          <p:nvSpPr>
            <p:cNvPr id="34" name="tab – PROOF IT RUNS"/>
            <p:cNvSpPr txBox="1"/>
            <p:nvPr/>
          </p:nvSpPr>
          <p:spPr>
            <a:xfrm>
              <a:off x="6576020" y="2076450"/>
              <a:ext cx="2165449" cy="2413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600" b="1" i="0" spc="32">
                  <a:solidFill>
                    <a:srgbClr val="FFFFFF"/>
                  </a:solidFill>
                  <a:latin typeface="Montserrat"/>
                  <a:ea typeface="Montserrat"/>
                  <a:cs typeface="Montserrat"/>
                </a:rPr>
                <a:t>PROOF IT RUNS</a:t>
              </a:r>
            </a:p>
          </p:txBody>
        </p:sp>
      </p:grpSp>
      <p:sp>
        <p:nvSpPr>
          <p:cNvPr id="35" name="shape"/>
          <p:cNvSpPr/>
          <p:nvPr/>
        </p:nvSpPr>
        <p:spPr>
          <a:xfrm>
            <a:off x="6350000" y="2489200"/>
            <a:ext cx="5613400" cy="3556000"/>
          </a:xfrm>
          <a:prstGeom prst="roundRect">
            <a:avLst>
              <a:gd name="adj" fmla="val 3214"/>
            </a:avLst>
          </a:prstGeom>
          <a:solidFill>
            <a:srgbClr val="141414"/>
          </a:solidFill>
          <a:ln>
            <a:noFill/>
          </a:ln>
          <a:effectLst>
            <a:outerShdw blurRad="38100" dist="12700" dir="5400000" algn="t" rotWithShape="0">
              <a:srgbClr val="0B1F44">
                <a:alpha val="12000"/>
              </a:srgbClr>
            </a:outerShdw>
          </a:effectLst>
        </p:spPr>
        <p:txBody>
          <a:bodyPr rtlCol="0" anchor="ctr"/>
          <a:lstStyle/>
          <a:p/>
        </p:txBody>
      </p:sp>
      <p:sp>
        <p:nvSpPr>
          <p:cNvPr id="36" name="shape"/>
          <p:cNvSpPr/>
          <p:nvPr/>
        </p:nvSpPr>
        <p:spPr>
          <a:xfrm>
            <a:off x="6477000" y="2578100"/>
            <a:ext cx="101600" cy="101600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shape"/>
          <p:cNvSpPr/>
          <p:nvPr/>
        </p:nvSpPr>
        <p:spPr>
          <a:xfrm>
            <a:off x="6642100" y="2578100"/>
            <a:ext cx="101600" cy="101600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shape"/>
          <p:cNvSpPr/>
          <p:nvPr/>
        </p:nvSpPr>
        <p:spPr>
          <a:xfrm>
            <a:off x="6807200" y="2578100"/>
            <a:ext cx="101600" cy="1016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9" name="hero_manali_studio.png" descr="hero_manali_studi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0000" y="2743200"/>
            <a:ext cx="5613400" cy="3302000"/>
          </a:xfrm>
          <a:prstGeom prst="rect">
            <a:avLst/>
          </a:prstGeom>
        </p:spPr>
      </p:pic>
      <p:grpSp>
        <p:nvGrpSpPr>
          <p:cNvPr id="40" name="live – ● LIVE · generated in our app, not a moc"/>
          <p:cNvGrpSpPr/>
          <p:nvPr/>
        </p:nvGrpSpPr>
        <p:grpSpPr>
          <a:xfrm>
            <a:off x="6477000" y="5689600"/>
            <a:ext cx="3058271" cy="254000"/>
            <a:chOff x="6477000" y="5689600"/>
            <a:chExt cx="3058271" cy="254000"/>
          </a:xfrm>
        </p:grpSpPr>
        <p:sp>
          <p:nvSpPr>
            <p:cNvPr id="41" name="live"/>
            <p:cNvSpPr/>
            <p:nvPr/>
          </p:nvSpPr>
          <p:spPr>
            <a:xfrm>
              <a:off x="6477000" y="5689600"/>
              <a:ext cx="3005931" cy="254000"/>
            </a:xfrm>
            <a:prstGeom prst="roundRect">
              <a:avLst>
                <a:gd name="adj" fmla="val 50000"/>
              </a:avLst>
            </a:prstGeom>
            <a:solidFill>
              <a:srgbClr val="0F7B3D"/>
            </a:solidFill>
            <a:ln>
              <a:noFill/>
            </a:ln>
            <a:effectLst/>
          </p:spPr>
          <p:txBody>
            <a:bodyPr rtlCol="0" anchor="ctr"/>
            <a:lstStyle/>
            <a:p/>
          </p:txBody>
        </p:sp>
        <p:sp>
          <p:nvSpPr>
            <p:cNvPr id="42" name="live – ● LIVE · generated in our app, not a moc"/>
            <p:cNvSpPr txBox="1"/>
            <p:nvPr/>
          </p:nvSpPr>
          <p:spPr>
            <a:xfrm>
              <a:off x="6591300" y="5746750"/>
              <a:ext cx="2943971" cy="1397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940" b="1" i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</a:rPr>
                <a:t>● LIVE · generated in our app, not a mock-up</a:t>
              </a:r>
            </a:p>
          </p:txBody>
        </p:sp>
      </p:grpSp>
      <p:pic>
        <p:nvPicPr>
          <p:cNvPr id="43" name="p1_satellite.png" descr="p1_satell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0000" y="6400800"/>
            <a:ext cx="736600" cy="736600"/>
          </a:xfrm>
          <a:prstGeom prst="rect">
            <a:avLst/>
          </a:prstGeom>
        </p:spPr>
      </p:pic>
      <p:sp>
        <p:nvSpPr>
          <p:cNvPr id="44" name="shape"/>
          <p:cNvSpPr/>
          <p:nvPr/>
        </p:nvSpPr>
        <p:spPr>
          <a:xfrm>
            <a:off x="6356350" y="6407150"/>
            <a:ext cx="723900" cy="723900"/>
          </a:xfrm>
          <a:prstGeom prst="roundRect">
            <a:avLst>
              <a:gd name="adj" fmla="val 6140"/>
            </a:avLst>
          </a:prstGeom>
          <a:noFill/>
          <a:ln w="12700">
            <a:solidFill>
              <a:srgbClr val="0B1F44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45" name="p2_depth.png" descr="p2_depth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66000" y="6400800"/>
            <a:ext cx="736600" cy="736600"/>
          </a:xfrm>
          <a:prstGeom prst="rect">
            <a:avLst/>
          </a:prstGeom>
        </p:spPr>
      </p:pic>
      <p:sp>
        <p:nvSpPr>
          <p:cNvPr id="46" name="shape"/>
          <p:cNvSpPr/>
          <p:nvPr/>
        </p:nvSpPr>
        <p:spPr>
          <a:xfrm>
            <a:off x="7372350" y="6407150"/>
            <a:ext cx="723900" cy="723900"/>
          </a:xfrm>
          <a:prstGeom prst="roundRect">
            <a:avLst>
              <a:gd name="adj" fmla="val 6140"/>
            </a:avLst>
          </a:prstGeom>
          <a:noFill/>
          <a:ln w="12700">
            <a:solidFill>
              <a:srgbClr val="0B1F44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47" name="p3_dem.png" descr="p3_dem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2000" y="6400800"/>
            <a:ext cx="736600" cy="736600"/>
          </a:xfrm>
          <a:prstGeom prst="rect">
            <a:avLst/>
          </a:prstGeom>
        </p:spPr>
      </p:pic>
      <p:sp>
        <p:nvSpPr>
          <p:cNvPr id="48" name="shape"/>
          <p:cNvSpPr/>
          <p:nvPr/>
        </p:nvSpPr>
        <p:spPr>
          <a:xfrm>
            <a:off x="8388350" y="6407150"/>
            <a:ext cx="723900" cy="723900"/>
          </a:xfrm>
          <a:prstGeom prst="roundRect">
            <a:avLst>
              <a:gd name="adj" fmla="val 6140"/>
            </a:avLst>
          </a:prstGeom>
          <a:noFill/>
          <a:ln w="12700">
            <a:solidFill>
              <a:srgbClr val="0B1F44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49" name="p4_3d.png" descr="p4_3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98000" y="6400800"/>
            <a:ext cx="736600" cy="736600"/>
          </a:xfrm>
          <a:prstGeom prst="rect">
            <a:avLst/>
          </a:prstGeom>
        </p:spPr>
      </p:pic>
      <p:sp>
        <p:nvSpPr>
          <p:cNvPr id="50" name="shape"/>
          <p:cNvSpPr/>
          <p:nvPr/>
        </p:nvSpPr>
        <p:spPr>
          <a:xfrm>
            <a:off x="9404350" y="6407150"/>
            <a:ext cx="723900" cy="723900"/>
          </a:xfrm>
          <a:prstGeom prst="roundRect">
            <a:avLst>
              <a:gd name="adj" fmla="val 6140"/>
            </a:avLst>
          </a:prstGeom>
          <a:noFill/>
          <a:ln w="12700">
            <a:solidFill>
              <a:srgbClr val="0B1F4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1" name="shape"/>
          <p:cNvSpPr/>
          <p:nvPr/>
        </p:nvSpPr>
        <p:spPr>
          <a:xfrm>
            <a:off x="10464800" y="6350000"/>
            <a:ext cx="15081" cy="1066800"/>
          </a:xfrm>
          <a:prstGeom prst="rect">
            <a:avLst/>
          </a:prstGeom>
          <a:solidFill>
            <a:srgbClr val="C2CDD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shape"/>
          <p:cNvSpPr/>
          <p:nvPr/>
        </p:nvSpPr>
        <p:spPr>
          <a:xfrm>
            <a:off x="12325350" y="2190750"/>
            <a:ext cx="5549900" cy="5321300"/>
          </a:xfrm>
          <a:prstGeom prst="roundRect">
            <a:avLst>
              <a:gd name="adj" fmla="val 2744"/>
            </a:avLst>
          </a:prstGeom>
          <a:solidFill>
            <a:srgbClr val="FFFFFF"/>
          </a:solidFill>
          <a:ln w="12700">
            <a:solidFill>
              <a:srgbClr val="0F7B3D"/>
            </a:solidFill>
          </a:ln>
          <a:effectLst/>
        </p:spPr>
        <p:txBody>
          <a:bodyPr rtlCol="0" anchor="ctr"/>
          <a:lstStyle/>
          <a:p/>
        </p:txBody>
      </p:sp>
      <p:grpSp>
        <p:nvGrpSpPr>
          <p:cNvPr id="53" name="tab – VIABILITY"/>
          <p:cNvGrpSpPr/>
          <p:nvPr/>
        </p:nvGrpSpPr>
        <p:grpSpPr>
          <a:xfrm>
            <a:off x="12319000" y="2006600"/>
            <a:ext cx="2476500" cy="381000"/>
            <a:chOff x="12319000" y="2006600"/>
            <a:chExt cx="2476500" cy="381000"/>
          </a:xfrm>
        </p:grpSpPr>
        <p:sp>
          <p:nvSpPr>
            <p:cNvPr id="54" name="tab"/>
            <p:cNvSpPr/>
            <p:nvPr/>
          </p:nvSpPr>
          <p:spPr>
            <a:xfrm>
              <a:off x="12319000" y="2006600"/>
              <a:ext cx="2476500" cy="381000"/>
            </a:xfrm>
            <a:prstGeom prst="roundRect">
              <a:avLst>
                <a:gd name="adj" fmla="val 30000"/>
              </a:avLst>
            </a:prstGeom>
            <a:solidFill>
              <a:srgbClr val="0F7B3D"/>
            </a:solidFill>
            <a:ln>
              <a:noFill/>
            </a:ln>
            <a:effectLst/>
          </p:spPr>
          <p:txBody>
            <a:bodyPr rtlCol="0" anchor="ctr"/>
            <a:lstStyle/>
            <a:p/>
          </p:txBody>
        </p:sp>
        <p:sp>
          <p:nvSpPr>
            <p:cNvPr id="55" name="tab – VIABILITY"/>
            <p:cNvSpPr txBox="1"/>
            <p:nvPr/>
          </p:nvSpPr>
          <p:spPr>
            <a:xfrm>
              <a:off x="13017500" y="2076450"/>
              <a:ext cx="1349375" cy="2413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600" b="1" i="0" spc="32">
                  <a:solidFill>
                    <a:srgbClr val="FFFFFF"/>
                  </a:solidFill>
                  <a:latin typeface="Montserrat"/>
                  <a:ea typeface="Montserrat"/>
                  <a:cs typeface="Montserrat"/>
                </a:rPr>
                <a:t>VIABILITY</a:t>
              </a:r>
            </a:p>
          </p:txBody>
        </p:sp>
      </p:grpSp>
      <p:sp>
        <p:nvSpPr>
          <p:cNvPr id="56" name="shape"/>
          <p:cNvSpPr/>
          <p:nvPr/>
        </p:nvSpPr>
        <p:spPr>
          <a:xfrm>
            <a:off x="12700000" y="2895600"/>
            <a:ext cx="552053" cy="152400"/>
          </a:xfrm>
          <a:prstGeom prst="roundRect">
            <a:avLst>
              <a:gd name="adj" fmla="val 25000"/>
            </a:avLst>
          </a:prstGeom>
          <a:solidFill>
            <a:srgbClr val="0F7B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shape"/>
          <p:cNvSpPr/>
          <p:nvPr/>
        </p:nvSpPr>
        <p:spPr>
          <a:xfrm>
            <a:off x="13252053" y="2895600"/>
            <a:ext cx="2489200" cy="152400"/>
          </a:xfrm>
          <a:prstGeom prst="rect">
            <a:avLst/>
          </a:prstGeom>
          <a:solidFill>
            <a:srgbClr val="BFE3C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8" name="shape"/>
          <p:cNvSpPr/>
          <p:nvPr/>
        </p:nvSpPr>
        <p:spPr>
          <a:xfrm>
            <a:off x="12700000" y="3124200"/>
            <a:ext cx="4978400" cy="190500"/>
          </a:xfrm>
          <a:prstGeom prst="roundRect">
            <a:avLst>
              <a:gd name="adj" fmla="val 20000"/>
            </a:avLst>
          </a:prstGeom>
          <a:solidFill>
            <a:srgbClr val="0C62C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9" name="shape"/>
          <p:cNvSpPr/>
          <p:nvPr/>
        </p:nvSpPr>
        <p:spPr>
          <a:xfrm>
            <a:off x="12700000" y="3403600"/>
            <a:ext cx="4978400" cy="15081"/>
          </a:xfrm>
          <a:prstGeom prst="rect">
            <a:avLst/>
          </a:prstGeom>
          <a:solidFill>
            <a:srgbClr val="9AA4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shape"/>
          <p:cNvSpPr/>
          <p:nvPr/>
        </p:nvSpPr>
        <p:spPr>
          <a:xfrm>
            <a:off x="12692261" y="3365500"/>
            <a:ext cx="15081" cy="88900"/>
          </a:xfrm>
          <a:prstGeom prst="rect">
            <a:avLst/>
          </a:prstGeom>
          <a:solidFill>
            <a:srgbClr val="9AA4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1" name="shape"/>
          <p:cNvSpPr/>
          <p:nvPr/>
        </p:nvSpPr>
        <p:spPr>
          <a:xfrm>
            <a:off x="13993812" y="3365500"/>
            <a:ext cx="15081" cy="88900"/>
          </a:xfrm>
          <a:prstGeom prst="rect">
            <a:avLst/>
          </a:prstGeom>
          <a:solidFill>
            <a:srgbClr val="9AA4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shape"/>
          <p:cNvSpPr/>
          <p:nvPr/>
        </p:nvSpPr>
        <p:spPr>
          <a:xfrm>
            <a:off x="14743112" y="3365500"/>
            <a:ext cx="15081" cy="88900"/>
          </a:xfrm>
          <a:prstGeom prst="rect">
            <a:avLst/>
          </a:prstGeom>
          <a:solidFill>
            <a:srgbClr val="9AA4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shape"/>
          <p:cNvSpPr/>
          <p:nvPr/>
        </p:nvSpPr>
        <p:spPr>
          <a:xfrm>
            <a:off x="15733712" y="3365500"/>
            <a:ext cx="15081" cy="88900"/>
          </a:xfrm>
          <a:prstGeom prst="rect">
            <a:avLst/>
          </a:prstGeom>
          <a:solidFill>
            <a:srgbClr val="9AA4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4" name="shape"/>
          <p:cNvSpPr/>
          <p:nvPr/>
        </p:nvSpPr>
        <p:spPr>
          <a:xfrm>
            <a:off x="16483012" y="3365500"/>
            <a:ext cx="15081" cy="88900"/>
          </a:xfrm>
          <a:prstGeom prst="rect">
            <a:avLst/>
          </a:prstGeom>
          <a:solidFill>
            <a:srgbClr val="9AA4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5" name="shape"/>
          <p:cNvSpPr/>
          <p:nvPr/>
        </p:nvSpPr>
        <p:spPr>
          <a:xfrm>
            <a:off x="17670661" y="3365500"/>
            <a:ext cx="15081" cy="88900"/>
          </a:xfrm>
          <a:prstGeom prst="rect">
            <a:avLst/>
          </a:prstGeom>
          <a:solidFill>
            <a:srgbClr val="9AA4B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6" name="shape"/>
          <p:cNvSpPr/>
          <p:nvPr/>
        </p:nvSpPr>
        <p:spPr>
          <a:xfrm>
            <a:off x="13589000" y="4241800"/>
            <a:ext cx="3175000" cy="190500"/>
          </a:xfrm>
          <a:prstGeom prst="roundRect">
            <a:avLst>
              <a:gd name="adj" fmla="val 20000"/>
            </a:avLst>
          </a:prstGeom>
          <a:solidFill>
            <a:srgbClr val="C2CDD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7" name="shape"/>
          <p:cNvSpPr/>
          <p:nvPr/>
        </p:nvSpPr>
        <p:spPr>
          <a:xfrm>
            <a:off x="13589000" y="4521200"/>
            <a:ext cx="1308100" cy="190500"/>
          </a:xfrm>
          <a:prstGeom prst="roundRect">
            <a:avLst>
              <a:gd name="adj" fmla="val 20000"/>
            </a:avLst>
          </a:prstGeom>
          <a:solidFill>
            <a:srgbClr val="0F7B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grpSp>
        <p:nvGrpSpPr>
          <p:cNvPr id="68" name="chip – −58.8%"/>
          <p:cNvGrpSpPr/>
          <p:nvPr/>
        </p:nvGrpSpPr>
        <p:grpSpPr>
          <a:xfrm>
            <a:off x="16033750" y="4502150"/>
            <a:ext cx="714970" cy="241300"/>
            <a:chOff x="16033750" y="4502150"/>
            <a:chExt cx="714970" cy="241300"/>
          </a:xfrm>
        </p:grpSpPr>
        <p:sp>
          <p:nvSpPr>
            <p:cNvPr id="69" name="chip"/>
            <p:cNvSpPr/>
            <p:nvPr/>
          </p:nvSpPr>
          <p:spPr>
            <a:xfrm>
              <a:off x="16033750" y="4502150"/>
              <a:ext cx="714970" cy="241300"/>
            </a:xfrm>
            <a:prstGeom prst="roundRect">
              <a:avLst>
                <a:gd name="adj" fmla="val 50000"/>
              </a:avLst>
            </a:prstGeom>
            <a:solidFill>
              <a:srgbClr val="FFE4E4"/>
            </a:solidFill>
            <a:ln w="12700">
              <a:solidFill>
                <a:srgbClr val="C00000"/>
              </a:solidFill>
            </a:ln>
            <a:effectLst/>
          </p:spPr>
          <p:txBody>
            <a:bodyPr rtlCol="0" anchor="ctr"/>
            <a:lstStyle/>
            <a:p/>
          </p:txBody>
        </p:sp>
        <p:sp>
          <p:nvSpPr>
            <p:cNvPr id="70" name="chip – −58.8%"/>
            <p:cNvSpPr txBox="1"/>
            <p:nvPr/>
          </p:nvSpPr>
          <p:spPr>
            <a:xfrm>
              <a:off x="16141700" y="4540250"/>
              <a:ext cx="575270" cy="1651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050" b="0" i="0">
                  <a:solidFill>
                    <a:srgbClr val="C00000"/>
                  </a:solidFill>
                  <a:latin typeface="Montserrat ExtraBold"/>
                  <a:ea typeface="Montserrat ExtraBold"/>
                  <a:cs typeface="Montserrat ExtraBold"/>
                </a:rPr>
                <a:t>−58.8%</a:t>
              </a:r>
            </a:p>
          </p:txBody>
        </p:sp>
      </p:grpSp>
      <p:sp>
        <p:nvSpPr>
          <p:cNvPr id="72" name="shape"/>
          <p:cNvSpPr/>
          <p:nvPr/>
        </p:nvSpPr>
        <p:spPr>
          <a:xfrm>
            <a:off x="412750" y="7778750"/>
            <a:ext cx="17462500" cy="1739900"/>
          </a:xfrm>
          <a:prstGeom prst="roundRect">
            <a:avLst>
              <a:gd name="adj" fmla="val 8394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txBody>
          <a:bodyPr rtlCol="0" anchor="ctr"/>
          <a:lstStyle/>
          <a:p/>
        </p:txBody>
      </p:sp>
      <p:grpSp>
        <p:nvGrpSpPr>
          <p:cNvPr id="73" name="tab – CHALLENGES → HOW WE SOLVED THEM"/>
          <p:cNvGrpSpPr/>
          <p:nvPr/>
        </p:nvGrpSpPr>
        <p:grpSpPr>
          <a:xfrm>
            <a:off x="406400" y="7594600"/>
            <a:ext cx="5770314" cy="381000"/>
            <a:chOff x="406400" y="7594600"/>
            <a:chExt cx="5770314" cy="381000"/>
          </a:xfrm>
        </p:grpSpPr>
        <p:sp>
          <p:nvSpPr>
            <p:cNvPr id="74" name="tab"/>
            <p:cNvSpPr/>
            <p:nvPr/>
          </p:nvSpPr>
          <p:spPr>
            <a:xfrm>
              <a:off x="406400" y="7594600"/>
              <a:ext cx="4826000" cy="381000"/>
            </a:xfrm>
            <a:prstGeom prst="roundRect">
              <a:avLst>
                <a:gd name="adj" fmla="val 30000"/>
              </a:avLst>
            </a:prstGeom>
            <a:solidFill>
              <a:srgbClr val="C00000"/>
            </a:solidFill>
            <a:ln>
              <a:noFill/>
            </a:ln>
            <a:effectLst/>
          </p:spPr>
          <p:txBody>
            <a:bodyPr rtlCol="0" anchor="ctr"/>
            <a:lstStyle/>
            <a:p/>
          </p:txBody>
        </p:sp>
        <p:sp>
          <p:nvSpPr>
            <p:cNvPr id="75" name="tab – CHALLENGES → HOW WE SOLVED THEM"/>
            <p:cNvSpPr txBox="1"/>
            <p:nvPr/>
          </p:nvSpPr>
          <p:spPr>
            <a:xfrm>
              <a:off x="581025" y="7664450"/>
              <a:ext cx="5595689" cy="2413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600" b="1" i="0" spc="32">
                  <a:solidFill>
                    <a:srgbClr val="FFFFFF"/>
                  </a:solidFill>
                  <a:latin typeface="Montserrat"/>
                  <a:ea typeface="Montserrat"/>
                  <a:cs typeface="Montserrat"/>
                </a:rPr>
                <a:t>CHALLENGES  </a:t>
              </a:r>
              <a:r>
                <a:rPr sz="1600" b="1" i="0" spc="32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→</a:t>
              </a:r>
              <a:r>
                <a:rPr sz="1600" b="1" i="0" spc="32">
                  <a:solidFill>
                    <a:srgbClr val="FFFFFF"/>
                  </a:solidFill>
                  <a:latin typeface="Montserrat"/>
                  <a:ea typeface="Montserrat"/>
                  <a:cs typeface="Montserrat"/>
                </a:rPr>
                <a:t>  HOW WE SOLVED THEM</a:t>
              </a:r>
            </a:p>
          </p:txBody>
        </p:sp>
      </p:grpSp>
      <p:pic>
        <p:nvPicPr>
          <p:cNvPr id="76" name="icon" descr="icon4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09600" y="8102600"/>
            <a:ext cx="279400" cy="279400"/>
          </a:xfrm>
          <a:prstGeom prst="rect">
            <a:avLst/>
          </a:prstGeom>
        </p:spPr>
      </p:pic>
      <p:pic>
        <p:nvPicPr>
          <p:cNvPr id="77" name="icon" descr="icon5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09600" y="8839200"/>
            <a:ext cx="279400" cy="279400"/>
          </a:xfrm>
          <a:prstGeom prst="rect">
            <a:avLst/>
          </a:prstGeom>
        </p:spPr>
      </p:pic>
      <p:pic>
        <p:nvPicPr>
          <p:cNvPr id="78" name="icon" descr="icon4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953000" y="8102600"/>
            <a:ext cx="279400" cy="279400"/>
          </a:xfrm>
          <a:prstGeom prst="rect">
            <a:avLst/>
          </a:prstGeom>
        </p:spPr>
      </p:pic>
      <p:pic>
        <p:nvPicPr>
          <p:cNvPr id="79" name="icon" descr="icon5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953000" y="8839200"/>
            <a:ext cx="279400" cy="279400"/>
          </a:xfrm>
          <a:prstGeom prst="rect">
            <a:avLst/>
          </a:prstGeom>
        </p:spPr>
      </p:pic>
      <p:pic>
        <p:nvPicPr>
          <p:cNvPr id="80" name="icon" descr="icon4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296400" y="8102600"/>
            <a:ext cx="279400" cy="279400"/>
          </a:xfrm>
          <a:prstGeom prst="rect">
            <a:avLst/>
          </a:prstGeom>
        </p:spPr>
      </p:pic>
      <p:pic>
        <p:nvPicPr>
          <p:cNvPr id="81" name="icon" descr="icon5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296400" y="8839200"/>
            <a:ext cx="279400" cy="279400"/>
          </a:xfrm>
          <a:prstGeom prst="rect">
            <a:avLst/>
          </a:prstGeom>
        </p:spPr>
      </p:pic>
      <p:pic>
        <p:nvPicPr>
          <p:cNvPr id="82" name="icon" descr="icon4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3639800" y="8102600"/>
            <a:ext cx="279400" cy="279400"/>
          </a:xfrm>
          <a:prstGeom prst="rect">
            <a:avLst/>
          </a:prstGeom>
        </p:spPr>
      </p:pic>
      <p:pic>
        <p:nvPicPr>
          <p:cNvPr id="83" name="icon" descr="icon5.p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3639800" y="8839200"/>
            <a:ext cx="279400" cy="279400"/>
          </a:xfrm>
          <a:prstGeom prst="rect">
            <a:avLst/>
          </a:prstGeom>
        </p:spPr>
      </p:pic>
      <p:sp>
        <p:nvSpPr>
          <p:cNvPr id="84" name="foot"/>
          <p:cNvSpPr/>
          <p:nvPr/>
        </p:nvSpPr>
        <p:spPr>
          <a:xfrm>
            <a:off x="0" y="9677400"/>
            <a:ext cx="18288000" cy="609600"/>
          </a:xfrm>
          <a:prstGeom prst="rect">
            <a:avLst/>
          </a:prstGeom>
          <a:solidFill>
            <a:srgbClr val="0B1F4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grpSp>
        <p:nvGrpSpPr>
          <p:cNvPr id="85" name="pg – 4"/>
          <p:cNvGrpSpPr/>
          <p:nvPr/>
        </p:nvGrpSpPr>
        <p:grpSpPr>
          <a:xfrm>
            <a:off x="17373600" y="9766300"/>
            <a:ext cx="431800" cy="431800"/>
            <a:chOff x="17373600" y="9766300"/>
            <a:chExt cx="431800" cy="431800"/>
          </a:xfrm>
        </p:grpSpPr>
        <p:sp>
          <p:nvSpPr>
            <p:cNvPr id="86" name="pg"/>
            <p:cNvSpPr/>
            <p:nvPr/>
          </p:nvSpPr>
          <p:spPr>
            <a:xfrm>
              <a:off x="17373600" y="9766300"/>
              <a:ext cx="431800" cy="431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/>
          </p:txBody>
        </p:sp>
        <p:sp>
          <p:nvSpPr>
            <p:cNvPr id="87" name="pg – 4"/>
            <p:cNvSpPr txBox="1"/>
            <p:nvPr/>
          </p:nvSpPr>
          <p:spPr>
            <a:xfrm>
              <a:off x="17519452" y="9861550"/>
              <a:ext cx="216297" cy="2413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noAutofit/>
            </a:bodyPr>
            <a:lstStyle/>
            <a:p>
              <a:pPr algn="l"/>
              <a:r>
                <a:rPr sz="1600" b="1" i="0">
                  <a:solidFill>
                    <a:srgbClr val="0B1F44"/>
                  </a:solidFill>
                  <a:latin typeface="Montserrat"/>
                  <a:ea typeface="Montserrat"/>
                  <a:cs typeface="Montserrat"/>
                </a:rPr>
                <a:t>4</a:t>
              </a:r>
            </a:p>
          </p:txBody>
        </p:sp>
      </p:grpSp>
      <p:cxnSp>
        <p:nvCxnSpPr>
          <p:cNvPr id="88" name="Arrow – pipeline step"/>
          <p:cNvCxnSpPr/>
          <p:nvPr/>
        </p:nvCxnSpPr>
        <p:spPr>
          <a:xfrm>
            <a:off x="7124700" y="6769100"/>
            <a:ext cx="203200" cy="0"/>
          </a:xfrm>
          <a:prstGeom prst="line">
            <a:avLst/>
          </a:prstGeom>
          <a:ln w="17780">
            <a:solidFill>
              <a:srgbClr val="0B1F44"/>
            </a:solidFill>
            <a:tailEnd type="triangle" w="med" len="med"/>
          </a:ln>
        </p:spPr>
      </p:cxnSp>
      <p:cxnSp>
        <p:nvCxnSpPr>
          <p:cNvPr id="89" name="Arrow – pipeline step"/>
          <p:cNvCxnSpPr/>
          <p:nvPr/>
        </p:nvCxnSpPr>
        <p:spPr>
          <a:xfrm>
            <a:off x="8140700" y="6769100"/>
            <a:ext cx="203200" cy="0"/>
          </a:xfrm>
          <a:prstGeom prst="line">
            <a:avLst/>
          </a:prstGeom>
          <a:ln w="17780">
            <a:solidFill>
              <a:srgbClr val="0B1F44"/>
            </a:solidFill>
            <a:tailEnd type="triangle" w="med" len="med"/>
          </a:ln>
        </p:spPr>
      </p:cxnSp>
      <p:cxnSp>
        <p:nvCxnSpPr>
          <p:cNvPr id="90" name="Arrow – pipeline step"/>
          <p:cNvCxnSpPr/>
          <p:nvPr/>
        </p:nvCxnSpPr>
        <p:spPr>
          <a:xfrm>
            <a:off x="9156700" y="6769100"/>
            <a:ext cx="203200" cy="0"/>
          </a:xfrm>
          <a:prstGeom prst="line">
            <a:avLst/>
          </a:prstGeom>
          <a:ln w="17780">
            <a:solidFill>
              <a:srgbClr val="0B1F44"/>
            </a:solidFill>
            <a:tailEnd type="triangle" w="med" len="med"/>
          </a:ln>
        </p:spPr>
      </p:cxnSp>
      <p:cxnSp>
        <p:nvCxnSpPr>
          <p:cNvPr id="91" name="Arrow – challenge to fix"/>
          <p:cNvCxnSpPr/>
          <p:nvPr/>
        </p:nvCxnSpPr>
        <p:spPr>
          <a:xfrm>
            <a:off x="749300" y="8458200"/>
            <a:ext cx="0" cy="330200"/>
          </a:xfrm>
          <a:prstGeom prst="line">
            <a:avLst/>
          </a:prstGeom>
          <a:ln w="16510">
            <a:solidFill>
              <a:srgbClr val="9AA4B2"/>
            </a:solidFill>
            <a:prstDash val="dash"/>
            <a:tailEnd type="triangle" w="med" len="med"/>
          </a:ln>
        </p:spPr>
      </p:cxnSp>
      <p:cxnSp>
        <p:nvCxnSpPr>
          <p:cNvPr id="92" name="Divider"/>
          <p:cNvCxnSpPr/>
          <p:nvPr/>
        </p:nvCxnSpPr>
        <p:spPr>
          <a:xfrm>
            <a:off x="4826000" y="7975600"/>
            <a:ext cx="0" cy="1422400"/>
          </a:xfrm>
          <a:prstGeom prst="line">
            <a:avLst/>
          </a:prstGeom>
          <a:ln w="13970">
            <a:solidFill>
              <a:srgbClr val="C2CDDD"/>
            </a:solidFill>
            <a:prstDash val="dash"/>
          </a:ln>
        </p:spPr>
      </p:cxnSp>
      <p:cxnSp>
        <p:nvCxnSpPr>
          <p:cNvPr id="93" name="Arrow – challenge to fix"/>
          <p:cNvCxnSpPr/>
          <p:nvPr/>
        </p:nvCxnSpPr>
        <p:spPr>
          <a:xfrm>
            <a:off x="5092700" y="8458200"/>
            <a:ext cx="0" cy="330200"/>
          </a:xfrm>
          <a:prstGeom prst="line">
            <a:avLst/>
          </a:prstGeom>
          <a:ln w="16510">
            <a:solidFill>
              <a:srgbClr val="9AA4B2"/>
            </a:solidFill>
            <a:prstDash val="dash"/>
            <a:tailEnd type="triangle" w="med" len="med"/>
          </a:ln>
        </p:spPr>
      </p:cxnSp>
      <p:cxnSp>
        <p:nvCxnSpPr>
          <p:cNvPr id="94" name="Divider"/>
          <p:cNvCxnSpPr/>
          <p:nvPr/>
        </p:nvCxnSpPr>
        <p:spPr>
          <a:xfrm>
            <a:off x="9169400" y="7975600"/>
            <a:ext cx="0" cy="1422400"/>
          </a:xfrm>
          <a:prstGeom prst="line">
            <a:avLst/>
          </a:prstGeom>
          <a:ln w="13970">
            <a:solidFill>
              <a:srgbClr val="C2CDDD"/>
            </a:solidFill>
            <a:prstDash val="dash"/>
          </a:ln>
        </p:spPr>
      </p:cxnSp>
      <p:cxnSp>
        <p:nvCxnSpPr>
          <p:cNvPr id="95" name="Arrow – challenge to fix"/>
          <p:cNvCxnSpPr/>
          <p:nvPr/>
        </p:nvCxnSpPr>
        <p:spPr>
          <a:xfrm>
            <a:off x="9436100" y="8458200"/>
            <a:ext cx="0" cy="330200"/>
          </a:xfrm>
          <a:prstGeom prst="line">
            <a:avLst/>
          </a:prstGeom>
          <a:ln w="16510">
            <a:solidFill>
              <a:srgbClr val="9AA4B2"/>
            </a:solidFill>
            <a:prstDash val="dash"/>
            <a:tailEnd type="triangle" w="med" len="med"/>
          </a:ln>
        </p:spPr>
      </p:cxnSp>
      <p:cxnSp>
        <p:nvCxnSpPr>
          <p:cNvPr id="96" name="Divider"/>
          <p:cNvCxnSpPr/>
          <p:nvPr/>
        </p:nvCxnSpPr>
        <p:spPr>
          <a:xfrm>
            <a:off x="13512800" y="7975600"/>
            <a:ext cx="0" cy="1422400"/>
          </a:xfrm>
          <a:prstGeom prst="line">
            <a:avLst/>
          </a:prstGeom>
          <a:ln w="13970">
            <a:solidFill>
              <a:srgbClr val="C2CDDD"/>
            </a:solidFill>
            <a:prstDash val="dash"/>
          </a:ln>
        </p:spPr>
      </p:cxnSp>
      <p:cxnSp>
        <p:nvCxnSpPr>
          <p:cNvPr id="97" name="Arrow – challenge to fix"/>
          <p:cNvCxnSpPr/>
          <p:nvPr/>
        </p:nvCxnSpPr>
        <p:spPr>
          <a:xfrm>
            <a:off x="13779500" y="8458200"/>
            <a:ext cx="0" cy="330200"/>
          </a:xfrm>
          <a:prstGeom prst="line">
            <a:avLst/>
          </a:prstGeom>
          <a:ln w="16510">
            <a:solidFill>
              <a:srgbClr val="9AA4B2"/>
            </a:solidFill>
            <a:prstDash val="dash"/>
            <a:tailEnd type="triangle" w="med" len="med"/>
          </a:ln>
        </p:spPr>
      </p:cxnSp>
      <p:sp>
        <p:nvSpPr>
          <p:cNvPr id="98" name="callout – Proof, not promises. Measured on our own"/>
          <p:cNvSpPr txBox="1"/>
          <p:nvPr/>
        </p:nvSpPr>
        <p:spPr>
          <a:xfrm>
            <a:off x="2590800" y="508000"/>
            <a:ext cx="1754688" cy="971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0" i="0">
                <a:solidFill>
                  <a:srgbClr val="000000"/>
                </a:solidFill>
                <a:latin typeface="Rubik Distressed"/>
                <a:ea typeface="Rubik Distressed"/>
                <a:cs typeface="Rubik Distressed"/>
              </a:rPr>
              <a:t>Proof, not</a:t>
            </a:r>
            <a:br/>
            <a:r>
              <a:rPr sz="1500" b="0" i="0">
                <a:solidFill>
                  <a:srgbClr val="000000"/>
                </a:solidFill>
                <a:latin typeface="Rubik Distressed"/>
                <a:ea typeface="Rubik Distressed"/>
                <a:cs typeface="Rubik Distressed"/>
              </a:rPr>
              <a:t>promises.</a:t>
            </a:r>
            <a:br/>
            <a:r>
              <a:rPr sz="1500" b="0" i="0">
                <a:solidFill>
                  <a:srgbClr val="C00000"/>
                </a:solidFill>
                <a:latin typeface="Rubik Distressed"/>
                <a:ea typeface="Rubik Distressed"/>
                <a:cs typeface="Rubik Distressed"/>
              </a:rPr>
              <a:t>Measured on our</a:t>
            </a:r>
            <a:br/>
            <a:r>
              <a:rPr sz="1500" b="0" i="0">
                <a:solidFill>
                  <a:srgbClr val="C00000"/>
                </a:solidFill>
                <a:latin typeface="Rubik Distressed"/>
                <a:ea typeface="Rubik Distressed"/>
                <a:cs typeface="Rubik Distressed"/>
              </a:rPr>
              <a:t>own runs.</a:t>
            </a:r>
          </a:p>
        </p:txBody>
      </p:sp>
      <p:sp>
        <p:nvSpPr>
          <p:cNvPr id="99" name="kicker – DEPTH WIZARD 2.0"/>
          <p:cNvSpPr txBox="1"/>
          <p:nvPr/>
        </p:nvSpPr>
        <p:spPr>
          <a:xfrm>
            <a:off x="6996931" y="215900"/>
            <a:ext cx="4293939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600" b="1" i="0" spc="672">
                <a:solidFill>
                  <a:srgbClr val="0B338B"/>
                </a:solidFill>
                <a:latin typeface="Montserrat"/>
                <a:ea typeface="Montserrat"/>
                <a:cs typeface="Montserrat"/>
              </a:rPr>
              <a:t>DEPTH WIZARD 2.0</a:t>
            </a:r>
          </a:p>
        </p:txBody>
      </p:sp>
      <p:sp>
        <p:nvSpPr>
          <p:cNvPr id="100" name="title – FEASIBILITY &amp; VIABILITY"/>
          <p:cNvSpPr txBox="1"/>
          <p:nvPr/>
        </p:nvSpPr>
        <p:spPr>
          <a:xfrm>
            <a:off x="4723061" y="508000"/>
            <a:ext cx="8841879" cy="6604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4200" b="0" i="0" spc="42">
                <a:solidFill>
                  <a:srgbClr val="0B1F44"/>
                </a:solidFill>
                <a:latin typeface="Montserrat ExtraBold"/>
                <a:ea typeface="Montserrat ExtraBold"/>
                <a:cs typeface="Montserrat ExtraBold"/>
              </a:rPr>
              <a:t>FEASIBILITY &amp; </a:t>
            </a:r>
            <a:r>
              <a:rPr sz="4200" b="0" i="0" spc="42">
                <a:solidFill>
                  <a:srgbClr val="E0661A"/>
                </a:solidFill>
                <a:latin typeface="Montserrat ExtraBold"/>
                <a:ea typeface="Montserrat ExtraBold"/>
                <a:cs typeface="Montserrat ExtraBold"/>
              </a:rPr>
              <a:t>VIABILITY</a:t>
            </a:r>
          </a:p>
        </p:txBody>
      </p:sp>
      <p:sp>
        <p:nvSpPr>
          <p:cNvPr id="101" name="sub – Built, measured and running today, on fr"/>
          <p:cNvSpPr txBox="1"/>
          <p:nvPr/>
        </p:nvSpPr>
        <p:spPr>
          <a:xfrm>
            <a:off x="5383691" y="1320800"/>
            <a:ext cx="752042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900" b="0" i="1">
                <a:solidFill>
                  <a:srgbClr val="0B338B"/>
                </a:solidFill>
                <a:latin typeface="Montserrat Medium"/>
                <a:ea typeface="Montserrat Medium"/>
                <a:cs typeface="Montserrat Medium"/>
              </a:rPr>
              <a:t>Built, measured and running today, on free infrastructure</a:t>
            </a:r>
          </a:p>
        </p:txBody>
      </p:sp>
      <p:sp>
        <p:nvSpPr>
          <p:cNvPr id="102" name="text – TECHNICAL"/>
          <p:cNvSpPr txBox="1"/>
          <p:nvPr/>
        </p:nvSpPr>
        <p:spPr>
          <a:xfrm>
            <a:off x="1371600" y="2514600"/>
            <a:ext cx="1385342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50" b="0" i="0" spc="54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</a:rPr>
              <a:t>TECHNICAL</a:t>
            </a:r>
          </a:p>
        </p:txBody>
      </p:sp>
      <p:sp>
        <p:nvSpPr>
          <p:cNvPr id="103" name="text – Fine-tuned Depth Anything V2-Small (twin"/>
          <p:cNvSpPr txBox="1"/>
          <p:nvPr/>
        </p:nvSpPr>
        <p:spPr>
          <a:xfrm>
            <a:off x="1371600" y="2755900"/>
            <a:ext cx="4605897" cy="3514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</a:pPr>
            <a:r>
              <a:rPr sz="1080" b="0" i="0">
                <a:solidFill>
                  <a:srgbClr val="3C4654"/>
                </a:solidFill>
                <a:latin typeface="Montserrat Medium"/>
                <a:ea typeface="Montserrat Medium"/>
                <a:cs typeface="Montserrat Medium"/>
              </a:rPr>
              <a:t>Fine-tuned Depth Anything V2-Small (twin </a:t>
            </a:r>
            <a:r>
              <a:rPr sz="1080" b="0" i="0">
                <a:solidFill>
                  <a:srgbClr val="3C4654"/>
                </a:solidFill>
                <a:latin typeface="Arial"/>
                <a:ea typeface="Arial"/>
                <a:cs typeface="Arial"/>
              </a:rPr>
              <a:t>μ</a:t>
            </a:r>
            <a:r>
              <a:rPr sz="1080" b="0" i="0">
                <a:solidFill>
                  <a:srgbClr val="3C4654"/>
                </a:solidFill>
                <a:latin typeface="Montserrat Medium"/>
                <a:ea typeface="Montserrat Medium"/>
                <a:cs typeface="Montserrat Medium"/>
              </a:rPr>
              <a:t>/</a:t>
            </a:r>
            <a:r>
              <a:rPr sz="1080" b="0" i="0">
                <a:solidFill>
                  <a:srgbClr val="3C4654"/>
                </a:solidFill>
                <a:latin typeface="Arial"/>
                <a:ea typeface="Arial"/>
                <a:cs typeface="Arial"/>
              </a:rPr>
              <a:t>σ</a:t>
            </a:r>
            <a:r>
              <a:rPr sz="1080" b="0" i="0">
                <a:solidFill>
                  <a:srgbClr val="3C4654"/>
                </a:solidFill>
                <a:latin typeface="Montserrat Medium"/>
                <a:ea typeface="Montserrat Medium"/>
                <a:cs typeface="Montserrat Medium"/>
              </a:rPr>
              <a:t> head) beats the</a:t>
            </a:r>
            <a:br/>
            <a:r>
              <a:rPr sz="1080" b="0" i="0">
                <a:solidFill>
                  <a:srgbClr val="3C4654"/>
                </a:solidFill>
                <a:latin typeface="Montserrat Medium"/>
                <a:ea typeface="Montserrat Medium"/>
                <a:cs typeface="Montserrat Medium"/>
              </a:rPr>
              <a:t>per-tile oracle on all 4 metrics, on 47–49 of 50 tiles.</a:t>
            </a:r>
          </a:p>
        </p:txBody>
      </p:sp>
      <p:sp>
        <p:nvSpPr>
          <p:cNvPr id="104" name="text – OPERATIONAL"/>
          <p:cNvSpPr txBox="1"/>
          <p:nvPr/>
        </p:nvSpPr>
        <p:spPr>
          <a:xfrm>
            <a:off x="1371600" y="3759200"/>
            <a:ext cx="1756916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50" b="0" i="0" spc="54">
                <a:solidFill>
                  <a:srgbClr val="0C62C6"/>
                </a:solidFill>
                <a:latin typeface="Montserrat ExtraBold"/>
                <a:ea typeface="Montserrat ExtraBold"/>
                <a:cs typeface="Montserrat ExtraBold"/>
              </a:rPr>
              <a:t>OPERATIONAL</a:t>
            </a:r>
          </a:p>
        </p:txBody>
      </p:sp>
      <p:sp>
        <p:nvSpPr>
          <p:cNvPr id="105" name="text – One codebase ships as a web app and a Ta"/>
          <p:cNvSpPr txBox="1"/>
          <p:nvPr/>
        </p:nvSpPr>
        <p:spPr>
          <a:xfrm>
            <a:off x="1371600" y="4000500"/>
            <a:ext cx="4410067" cy="3514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</a:pPr>
            <a:r>
              <a:rPr sz="1080" b="0" i="0">
                <a:solidFill>
                  <a:srgbClr val="3C4654"/>
                </a:solidFill>
                <a:latin typeface="Montserrat Medium"/>
                <a:ea typeface="Montserrat Medium"/>
                <a:cs typeface="Montserrat Medium"/>
              </a:rPr>
              <a:t>One codebase ships as a web app and a Tauri desktop suite.</a:t>
            </a:r>
            <a:br/>
            <a:r>
              <a:rPr sz="1080" b="0" i="0">
                <a:solidFill>
                  <a:srgbClr val="3C4654"/>
                </a:solidFill>
                <a:latin typeface="Montserrat Medium"/>
                <a:ea typeface="Montserrat Medium"/>
                <a:cs typeface="Montserrat Medium"/>
              </a:rPr>
              <a:t>CPU-only ONNX inference: no GPU, no training for users.</a:t>
            </a:r>
          </a:p>
        </p:txBody>
      </p:sp>
      <p:sp>
        <p:nvSpPr>
          <p:cNvPr id="106" name="text – ECONOMIC"/>
          <p:cNvSpPr txBox="1"/>
          <p:nvPr/>
        </p:nvSpPr>
        <p:spPr>
          <a:xfrm>
            <a:off x="1371600" y="5003800"/>
            <a:ext cx="1332012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50" b="0" i="0" spc="54">
                <a:solidFill>
                  <a:srgbClr val="E0661A"/>
                </a:solidFill>
                <a:latin typeface="Montserrat ExtraBold"/>
                <a:ea typeface="Montserrat ExtraBold"/>
                <a:cs typeface="Montserrat ExtraBold"/>
              </a:rPr>
              <a:t>ECONOMIC</a:t>
            </a:r>
          </a:p>
        </p:txBody>
      </p:sp>
      <p:sp>
        <p:nvSpPr>
          <p:cNvPr id="107" name="text – ₹0 infrastructure with no card on file a"/>
          <p:cNvSpPr txBox="1"/>
          <p:nvPr/>
        </p:nvSpPr>
        <p:spPr>
          <a:xfrm>
            <a:off x="1371600" y="5245100"/>
            <a:ext cx="4592014" cy="3514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</a:pPr>
            <a:r>
              <a:rPr sz="1080" b="0" i="0">
                <a:solidFill>
                  <a:srgbClr val="3C4654"/>
                </a:solidFill>
                <a:latin typeface="Montserrat Medium"/>
                <a:ea typeface="Montserrat Medium"/>
                <a:cs typeface="Montserrat Medium"/>
              </a:rPr>
              <a:t>₹0 infrastructure with no card on file anywhere: Hugging Face</a:t>
            </a:r>
            <a:br/>
            <a:r>
              <a:rPr sz="1080" b="0" i="0">
                <a:solidFill>
                  <a:srgbClr val="3C4654"/>
                </a:solidFill>
                <a:latin typeface="Montserrat Medium"/>
                <a:ea typeface="Montserrat Medium"/>
                <a:cs typeface="Montserrat Medium"/>
              </a:rPr>
              <a:t>Hub + ZeroGPU, GitHub Releases.</a:t>
            </a:r>
          </a:p>
        </p:txBody>
      </p:sp>
      <p:sp>
        <p:nvSpPr>
          <p:cNvPr id="108" name="text – DATA"/>
          <p:cNvSpPr txBox="1"/>
          <p:nvPr/>
        </p:nvSpPr>
        <p:spPr>
          <a:xfrm>
            <a:off x="1371600" y="6248400"/>
            <a:ext cx="667246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350" b="0" i="0" spc="54">
                <a:solidFill>
                  <a:srgbClr val="0F7B3D"/>
                </a:solidFill>
                <a:latin typeface="Montserrat ExtraBold"/>
                <a:ea typeface="Montserrat ExtraBold"/>
                <a:cs typeface="Montserrat ExtraBold"/>
              </a:rPr>
              <a:t>DATA</a:t>
            </a:r>
          </a:p>
        </p:txBody>
      </p:sp>
      <p:sp>
        <p:nvSpPr>
          <p:cNvPr id="109" name="text – Free, open inputs: Sentinel-2, Maxar Ope"/>
          <p:cNvSpPr txBox="1"/>
          <p:nvPr/>
        </p:nvSpPr>
        <p:spPr>
          <a:xfrm>
            <a:off x="1371600" y="6489700"/>
            <a:ext cx="4489787" cy="3514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67"/>
              </a:lnSpc>
            </a:pPr>
            <a:r>
              <a:rPr sz="1080" b="0" i="0">
                <a:solidFill>
                  <a:srgbClr val="3C4654"/>
                </a:solidFill>
                <a:latin typeface="Montserrat Medium"/>
                <a:ea typeface="Montserrat Medium"/>
                <a:cs typeface="Montserrat Medium"/>
              </a:rPr>
              <a:t>Free, open inputs: Sentinel-2, Maxar Open Data, Copernicus</a:t>
            </a:r>
            <a:br/>
            <a:r>
              <a:rPr sz="1080" b="0" i="0">
                <a:solidFill>
                  <a:srgbClr val="3C4654"/>
                </a:solidFill>
                <a:latin typeface="Montserrat Medium"/>
                <a:ea typeface="Montserrat Medium"/>
                <a:cs typeface="Montserrat Medium"/>
              </a:rPr>
              <a:t>GLO-30, FABDEM, ICESat-2 + the DFC2019 LiDAR benchmark.</a:t>
            </a:r>
          </a:p>
        </p:txBody>
      </p:sp>
      <p:sp>
        <p:nvSpPr>
          <p:cNvPr id="110" name="text – Depth Wizard Studio · Manali, HP · Senti"/>
          <p:cNvSpPr txBox="1"/>
          <p:nvPr/>
        </p:nvSpPr>
        <p:spPr>
          <a:xfrm>
            <a:off x="7112000" y="2552700"/>
            <a:ext cx="3150529" cy="139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80" b="0" i="0">
                <a:solidFill>
                  <a:srgbClr val="9AA4B2"/>
                </a:solidFill>
                <a:latin typeface="Montserrat SemiBold"/>
                <a:ea typeface="Montserrat SemiBold"/>
                <a:cs typeface="Montserrat SemiBold"/>
              </a:rPr>
              <a:t>Depth Wizard Studio · Manali, HP · Sentinel-2 · Tier 1</a:t>
            </a:r>
          </a:p>
        </p:txBody>
      </p:sp>
      <p:sp>
        <p:nvSpPr>
          <p:cNvPr id="111" name="text – SAME RUN, END TO END"/>
          <p:cNvSpPr txBox="1"/>
          <p:nvPr/>
        </p:nvSpPr>
        <p:spPr>
          <a:xfrm>
            <a:off x="6350000" y="6172200"/>
            <a:ext cx="2430611" cy="177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00" b="0" i="0" spc="55">
                <a:solidFill>
                  <a:srgbClr val="0C62C6"/>
                </a:solidFill>
                <a:latin typeface="Montserrat ExtraBold"/>
                <a:ea typeface="Montserrat ExtraBold"/>
                <a:cs typeface="Montserrat ExtraBold"/>
              </a:rPr>
              <a:t>SAME RUN, END TO END</a:t>
            </a:r>
          </a:p>
        </p:txBody>
      </p:sp>
      <p:sp>
        <p:nvSpPr>
          <p:cNvPr id="112" name="text – Sentinel-2 RGB"/>
          <p:cNvSpPr txBox="1"/>
          <p:nvPr/>
        </p:nvSpPr>
        <p:spPr>
          <a:xfrm>
            <a:off x="6257528" y="7188200"/>
            <a:ext cx="921544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60" b="0" i="0">
                <a:solidFill>
                  <a:srgbClr val="0B1F44"/>
                </a:solidFill>
                <a:latin typeface="Montserrat SemiBold"/>
                <a:ea typeface="Montserrat SemiBold"/>
                <a:cs typeface="Montserrat SemiBold"/>
              </a:rPr>
              <a:t>Sentinel-2 RGB</a:t>
            </a:r>
          </a:p>
        </p:txBody>
      </p:sp>
      <p:sp>
        <p:nvSpPr>
          <p:cNvPr id="113" name="text – DAv2 rel. depth"/>
          <p:cNvSpPr txBox="1"/>
          <p:nvPr/>
        </p:nvSpPr>
        <p:spPr>
          <a:xfrm>
            <a:off x="7262812" y="7188200"/>
            <a:ext cx="942777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60" b="0" i="0">
                <a:solidFill>
                  <a:srgbClr val="0B1F44"/>
                </a:solidFill>
                <a:latin typeface="Montserrat SemiBold"/>
                <a:ea typeface="Montserrat SemiBold"/>
                <a:cs typeface="Montserrat SemiBold"/>
              </a:rPr>
              <a:t>DAv2 rel. depth</a:t>
            </a:r>
          </a:p>
        </p:txBody>
      </p:sp>
      <p:sp>
        <p:nvSpPr>
          <p:cNvPr id="114" name="text – DEM elevation"/>
          <p:cNvSpPr txBox="1"/>
          <p:nvPr/>
        </p:nvSpPr>
        <p:spPr>
          <a:xfrm>
            <a:off x="8305006" y="7188200"/>
            <a:ext cx="890588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60" b="0" i="0">
                <a:solidFill>
                  <a:srgbClr val="0B1F44"/>
                </a:solidFill>
                <a:latin typeface="Montserrat SemiBold"/>
                <a:ea typeface="Montserrat SemiBold"/>
                <a:cs typeface="Montserrat SemiBold"/>
              </a:rPr>
              <a:t>DEM elevation</a:t>
            </a:r>
          </a:p>
        </p:txBody>
      </p:sp>
      <p:sp>
        <p:nvSpPr>
          <p:cNvPr id="115" name="text – 3D terrain"/>
          <p:cNvSpPr txBox="1"/>
          <p:nvPr/>
        </p:nvSpPr>
        <p:spPr>
          <a:xfrm>
            <a:off x="9450388" y="7188200"/>
            <a:ext cx="631825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60" b="0" i="0">
                <a:solidFill>
                  <a:srgbClr val="0B1F44"/>
                </a:solidFill>
                <a:latin typeface="Montserrat SemiBold"/>
                <a:ea typeface="Montserrat SemiBold"/>
                <a:cs typeface="Montserrat SemiBold"/>
              </a:rPr>
              <a:t>3D terrain</a:t>
            </a:r>
          </a:p>
        </p:txBody>
      </p:sp>
      <p:sp>
        <p:nvSpPr>
          <p:cNvPr id="116" name="text – ≈0.3 s"/>
          <p:cNvSpPr txBox="1"/>
          <p:nvPr/>
        </p:nvSpPr>
        <p:spPr>
          <a:xfrm>
            <a:off x="10642600" y="6350000"/>
            <a:ext cx="901502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200" b="0" i="0">
                <a:solidFill>
                  <a:srgbClr val="0B1F44"/>
                </a:solidFill>
                <a:latin typeface="Montserrat ExtraBold"/>
                <a:ea typeface="Montserrat ExtraBold"/>
                <a:cs typeface="Montserrat ExtraBold"/>
              </a:rPr>
              <a:t>≈0.3 s</a:t>
            </a:r>
          </a:p>
        </p:txBody>
      </p:sp>
      <p:sp>
        <p:nvSpPr>
          <p:cNvPr id="117" name="text – depth on CPU (ONNX)"/>
          <p:cNvSpPr txBox="1"/>
          <p:nvPr/>
        </p:nvSpPr>
        <p:spPr>
          <a:xfrm>
            <a:off x="10642600" y="6705600"/>
            <a:ext cx="1371021" cy="139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5B6675"/>
                </a:solidFill>
                <a:latin typeface="Montserrat SemiBold"/>
                <a:ea typeface="Montserrat SemiBold"/>
                <a:cs typeface="Montserrat SemiBold"/>
              </a:rPr>
              <a:t>depth on CPU (ONNX)</a:t>
            </a:r>
          </a:p>
        </p:txBody>
      </p:sp>
      <p:sp>
        <p:nvSpPr>
          <p:cNvPr id="118" name="text – 2,445 m"/>
          <p:cNvSpPr txBox="1"/>
          <p:nvPr/>
        </p:nvSpPr>
        <p:spPr>
          <a:xfrm>
            <a:off x="10642600" y="6934200"/>
            <a:ext cx="1260673" cy="342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2200" b="0" i="0">
                <a:solidFill>
                  <a:srgbClr val="E0661A"/>
                </a:solidFill>
                <a:latin typeface="Montserrat ExtraBold"/>
                <a:ea typeface="Montserrat ExtraBold"/>
                <a:cs typeface="Montserrat ExtraBold"/>
              </a:rPr>
              <a:t>2,445 m</a:t>
            </a:r>
          </a:p>
        </p:txBody>
      </p:sp>
      <p:sp>
        <p:nvSpPr>
          <p:cNvPr id="119" name="text – relief rendered in 3D"/>
          <p:cNvSpPr txBox="1"/>
          <p:nvPr/>
        </p:nvSpPr>
        <p:spPr>
          <a:xfrm>
            <a:off x="10642600" y="7289800"/>
            <a:ext cx="1282898" cy="139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00" b="0" i="0">
                <a:solidFill>
                  <a:srgbClr val="5B6675"/>
                </a:solidFill>
                <a:latin typeface="Montserrat SemiBold"/>
                <a:ea typeface="Montserrat SemiBold"/>
                <a:cs typeface="Montserrat SemiBold"/>
              </a:rPr>
              <a:t>relief rendered in 3D</a:t>
            </a:r>
          </a:p>
        </p:txBody>
      </p:sp>
      <p:sp>
        <p:nvSpPr>
          <p:cNvPr id="120" name="text – RESOLUTION-AWARE BY DESIGN"/>
          <p:cNvSpPr txBox="1"/>
          <p:nvPr/>
        </p:nvSpPr>
        <p:spPr>
          <a:xfrm>
            <a:off x="12522200" y="2463800"/>
            <a:ext cx="3519041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0" i="0" spc="48">
                <a:solidFill>
                  <a:srgbClr val="0F7B3D"/>
                </a:solidFill>
                <a:latin typeface="Montserrat ExtraBold"/>
                <a:ea typeface="Montserrat ExtraBold"/>
                <a:cs typeface="Montserrat ExtraBold"/>
              </a:rPr>
              <a:t>RESOLUTION-AWARE BY DESIGN</a:t>
            </a:r>
          </a:p>
        </p:txBody>
      </p:sp>
      <p:sp>
        <p:nvSpPr>
          <p:cNvPr id="121" name="text – TIER 2 · learned height (Method 6)"/>
          <p:cNvSpPr txBox="1"/>
          <p:nvPr/>
        </p:nvSpPr>
        <p:spPr>
          <a:xfrm>
            <a:off x="12700000" y="2717800"/>
            <a:ext cx="2203561" cy="139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19" b="1" i="0">
                <a:solidFill>
                  <a:srgbClr val="0F7B3D"/>
                </a:solidFill>
                <a:latin typeface="Montserrat"/>
                <a:ea typeface="Montserrat"/>
                <a:cs typeface="Montserrat"/>
              </a:rPr>
              <a:t>TIER 2 · learned height (Method 6)</a:t>
            </a:r>
          </a:p>
        </p:txBody>
      </p:sp>
      <p:sp>
        <p:nvSpPr>
          <p:cNvPr id="122" name="text – ≤ 5 m: synthetic only"/>
          <p:cNvSpPr txBox="1"/>
          <p:nvPr/>
        </p:nvSpPr>
        <p:spPr>
          <a:xfrm>
            <a:off x="15817453" y="2882900"/>
            <a:ext cx="1254125" cy="139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80" b="0" i="1">
                <a:solidFill>
                  <a:srgbClr val="3C4654"/>
                </a:solidFill>
                <a:latin typeface="Montserrat SemiBold"/>
                <a:ea typeface="Montserrat SemiBold"/>
                <a:cs typeface="Montserrat SemiBold"/>
              </a:rPr>
              <a:t>≤ 5 m: synthetic only</a:t>
            </a:r>
          </a:p>
        </p:txBody>
      </p:sp>
      <p:sp>
        <p:nvSpPr>
          <p:cNvPr id="123" name="text – TIER 1 · calibrated DEM · any resolution"/>
          <p:cNvSpPr txBox="1"/>
          <p:nvPr/>
        </p:nvSpPr>
        <p:spPr>
          <a:xfrm>
            <a:off x="12788900" y="3149600"/>
            <a:ext cx="3642943" cy="139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8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TIER 1 · calibrated DEM · any resolution, anywhere on Earth</a:t>
            </a:r>
          </a:p>
        </p:txBody>
      </p:sp>
      <p:sp>
        <p:nvSpPr>
          <p:cNvPr id="124" name="text – 0.3 m"/>
          <p:cNvSpPr txBox="1"/>
          <p:nvPr/>
        </p:nvSpPr>
        <p:spPr>
          <a:xfrm>
            <a:off x="12700000" y="3479800"/>
            <a:ext cx="377230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40" b="0" i="0">
                <a:solidFill>
                  <a:srgbClr val="5B6675"/>
                </a:solidFill>
                <a:latin typeface="Montserrat SemiBold"/>
                <a:ea typeface="Montserrat SemiBold"/>
                <a:cs typeface="Montserrat SemiBold"/>
              </a:rPr>
              <a:t>0.3 m</a:t>
            </a:r>
          </a:p>
        </p:txBody>
      </p:sp>
      <p:sp>
        <p:nvSpPr>
          <p:cNvPr id="125" name="text – 1 m"/>
          <p:cNvSpPr txBox="1"/>
          <p:nvPr/>
        </p:nvSpPr>
        <p:spPr>
          <a:xfrm>
            <a:off x="13872170" y="3479800"/>
            <a:ext cx="258366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40" b="0" i="0">
                <a:solidFill>
                  <a:srgbClr val="5B6675"/>
                </a:solidFill>
                <a:latin typeface="Montserrat SemiBold"/>
                <a:ea typeface="Montserrat SemiBold"/>
                <a:cs typeface="Montserrat SemiBold"/>
              </a:rPr>
              <a:t>1 m</a:t>
            </a:r>
          </a:p>
        </p:txBody>
      </p:sp>
      <p:sp>
        <p:nvSpPr>
          <p:cNvPr id="126" name="text – 2 m"/>
          <p:cNvSpPr txBox="1"/>
          <p:nvPr/>
        </p:nvSpPr>
        <p:spPr>
          <a:xfrm>
            <a:off x="14610953" y="3479800"/>
            <a:ext cx="279797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40" b="0" i="0">
                <a:solidFill>
                  <a:srgbClr val="5B6675"/>
                </a:solidFill>
                <a:latin typeface="Montserrat SemiBold"/>
                <a:ea typeface="Montserrat SemiBold"/>
                <a:cs typeface="Montserrat SemiBold"/>
              </a:rPr>
              <a:t>2 m</a:t>
            </a:r>
          </a:p>
        </p:txBody>
      </p:sp>
      <p:sp>
        <p:nvSpPr>
          <p:cNvPr id="127" name="text – 5 m"/>
          <p:cNvSpPr txBox="1"/>
          <p:nvPr/>
        </p:nvSpPr>
        <p:spPr>
          <a:xfrm>
            <a:off x="15601156" y="3479800"/>
            <a:ext cx="280194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40" b="0" i="0">
                <a:solidFill>
                  <a:srgbClr val="5B6675"/>
                </a:solidFill>
                <a:latin typeface="Montserrat SemiBold"/>
                <a:ea typeface="Montserrat SemiBold"/>
                <a:cs typeface="Montserrat SemiBold"/>
              </a:rPr>
              <a:t>5 m</a:t>
            </a:r>
          </a:p>
        </p:txBody>
      </p:sp>
      <p:sp>
        <p:nvSpPr>
          <p:cNvPr id="128" name="text – 10 m"/>
          <p:cNvSpPr txBox="1"/>
          <p:nvPr/>
        </p:nvSpPr>
        <p:spPr>
          <a:xfrm>
            <a:off x="16325453" y="3479800"/>
            <a:ext cx="330200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40" b="0" i="0">
                <a:solidFill>
                  <a:srgbClr val="5B6675"/>
                </a:solidFill>
                <a:latin typeface="Montserrat SemiBold"/>
                <a:ea typeface="Montserrat SemiBold"/>
                <a:cs typeface="Montserrat SemiBold"/>
              </a:rPr>
              <a:t>10 m</a:t>
            </a:r>
          </a:p>
        </p:txBody>
      </p:sp>
      <p:sp>
        <p:nvSpPr>
          <p:cNvPr id="129" name="text – 30 m"/>
          <p:cNvSpPr txBox="1"/>
          <p:nvPr/>
        </p:nvSpPr>
        <p:spPr>
          <a:xfrm>
            <a:off x="17326769" y="3479800"/>
            <a:ext cx="351631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40" b="0" i="0">
                <a:solidFill>
                  <a:srgbClr val="5B6675"/>
                </a:solidFill>
                <a:latin typeface="Montserrat SemiBold"/>
                <a:ea typeface="Montserrat SemiBold"/>
                <a:cs typeface="Montserrat SemiBold"/>
              </a:rPr>
              <a:t>30 m</a:t>
            </a:r>
          </a:p>
        </p:txBody>
      </p:sp>
      <p:sp>
        <p:nvSpPr>
          <p:cNvPr id="130" name="text – ▲ DFC2019 · Maxar VHR: proven"/>
          <p:cNvSpPr txBox="1"/>
          <p:nvPr/>
        </p:nvSpPr>
        <p:spPr>
          <a:xfrm>
            <a:off x="12700000" y="3670300"/>
            <a:ext cx="1965452" cy="139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80" b="1" i="0">
                <a:solidFill>
                  <a:srgbClr val="0F7B3D"/>
                </a:solidFill>
                <a:latin typeface="Montserrat"/>
                <a:ea typeface="Montserrat"/>
                <a:cs typeface="Montserrat"/>
              </a:rPr>
              <a:t>▲ DFC2019 · Maxar VHR: proven</a:t>
            </a:r>
          </a:p>
        </p:txBody>
      </p:sp>
      <p:sp>
        <p:nvSpPr>
          <p:cNvPr id="131" name="text – Sentinel-2: locked to Tier 1 ▲"/>
          <p:cNvSpPr txBox="1"/>
          <p:nvPr/>
        </p:nvSpPr>
        <p:spPr>
          <a:xfrm>
            <a:off x="15004117" y="3670300"/>
            <a:ext cx="1765836" cy="139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880" b="1" i="0">
                <a:solidFill>
                  <a:srgbClr val="0C62C6"/>
                </a:solidFill>
                <a:latin typeface="Montserrat"/>
                <a:ea typeface="Montserrat"/>
                <a:cs typeface="Montserrat"/>
              </a:rPr>
              <a:t>Sentinel-2: locked to Tier 1 ▲</a:t>
            </a:r>
          </a:p>
        </p:txBody>
      </p:sp>
      <p:sp>
        <p:nvSpPr>
          <p:cNvPr id="132" name="text – LEAN, SHIPPABLE INSTALLER"/>
          <p:cNvSpPr txBox="1"/>
          <p:nvPr/>
        </p:nvSpPr>
        <p:spPr>
          <a:xfrm>
            <a:off x="12522200" y="3987800"/>
            <a:ext cx="3160117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0" i="0" spc="48">
                <a:solidFill>
                  <a:srgbClr val="0F7B3D"/>
                </a:solidFill>
                <a:latin typeface="Montserrat ExtraBold"/>
                <a:ea typeface="Montserrat ExtraBold"/>
                <a:cs typeface="Montserrat ExtraBold"/>
              </a:rPr>
              <a:t>LEAN, SHIPPABLE INSTALLER</a:t>
            </a:r>
          </a:p>
        </p:txBody>
      </p:sp>
      <p:sp>
        <p:nvSpPr>
          <p:cNvPr id="133" name="text – PyTorch build"/>
          <p:cNvSpPr txBox="1"/>
          <p:nvPr/>
        </p:nvSpPr>
        <p:spPr>
          <a:xfrm>
            <a:off x="12522200" y="4267200"/>
            <a:ext cx="935434" cy="139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60" b="0" i="0">
                <a:solidFill>
                  <a:srgbClr val="3C4654"/>
                </a:solidFill>
                <a:latin typeface="Montserrat SemiBold"/>
                <a:ea typeface="Montserrat SemiBold"/>
                <a:cs typeface="Montserrat SemiBold"/>
              </a:rPr>
              <a:t>PyTorch build</a:t>
            </a:r>
          </a:p>
        </p:txBody>
      </p:sp>
      <p:sp>
        <p:nvSpPr>
          <p:cNvPr id="134" name="text – 854.5 MB"/>
          <p:cNvSpPr txBox="1"/>
          <p:nvPr/>
        </p:nvSpPr>
        <p:spPr>
          <a:xfrm>
            <a:off x="16840200" y="4254500"/>
            <a:ext cx="688777" cy="165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5B6675"/>
                </a:solidFill>
                <a:latin typeface="Montserrat"/>
                <a:ea typeface="Montserrat"/>
                <a:cs typeface="Montserrat"/>
              </a:rPr>
              <a:t>854.5 MB</a:t>
            </a:r>
          </a:p>
        </p:txBody>
      </p:sp>
      <p:sp>
        <p:nvSpPr>
          <p:cNvPr id="135" name="text – ONNX build"/>
          <p:cNvSpPr txBox="1"/>
          <p:nvPr/>
        </p:nvSpPr>
        <p:spPr>
          <a:xfrm>
            <a:off x="12522200" y="4546600"/>
            <a:ext cx="813197" cy="1397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960" b="0" i="0">
                <a:solidFill>
                  <a:srgbClr val="3C4654"/>
                </a:solidFill>
                <a:latin typeface="Montserrat SemiBold"/>
                <a:ea typeface="Montserrat SemiBold"/>
                <a:cs typeface="Montserrat SemiBold"/>
              </a:rPr>
              <a:t>ONNX build</a:t>
            </a:r>
          </a:p>
        </p:txBody>
      </p:sp>
      <p:sp>
        <p:nvSpPr>
          <p:cNvPr id="136" name="text – 352.1 MB"/>
          <p:cNvSpPr txBox="1"/>
          <p:nvPr/>
        </p:nvSpPr>
        <p:spPr>
          <a:xfrm>
            <a:off x="14973300" y="4533900"/>
            <a:ext cx="636588" cy="165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00" b="1" i="0">
                <a:solidFill>
                  <a:srgbClr val="0F7B3D"/>
                </a:solidFill>
                <a:latin typeface="Montserrat"/>
                <a:ea typeface="Montserrat"/>
                <a:cs typeface="Montserrat"/>
              </a:rPr>
              <a:t>352.1 MB</a:t>
            </a:r>
          </a:p>
        </p:txBody>
      </p:sp>
      <p:sp>
        <p:nvSpPr>
          <p:cNvPr id="137" name="text – Output parity Pearson 1.000 · today’s fu"/>
          <p:cNvSpPr txBox="1"/>
          <p:nvPr/>
        </p:nvSpPr>
        <p:spPr>
          <a:xfrm>
            <a:off x="12522200" y="4800600"/>
            <a:ext cx="5147532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860" b="0" i="1">
                <a:solidFill>
                  <a:srgbClr val="5B6675"/>
                </a:solidFill>
                <a:latin typeface="Montserrat Medium"/>
                <a:ea typeface="Montserrat Medium"/>
                <a:cs typeface="Montserrat Medium"/>
              </a:rPr>
              <a:t>Output parity Pearson 1.000 · today’s full build 455.2 MB incl. a 100 MB offline tile library</a:t>
            </a:r>
          </a:p>
        </p:txBody>
      </p:sp>
      <p:sp>
        <p:nvSpPr>
          <p:cNvPr id="138" name="text – SCALES WITHOUT RETRAINING"/>
          <p:cNvSpPr txBox="1"/>
          <p:nvPr/>
        </p:nvSpPr>
        <p:spPr>
          <a:xfrm>
            <a:off x="12522200" y="5181600"/>
            <a:ext cx="3333502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200" b="0" i="0" spc="48">
                <a:solidFill>
                  <a:srgbClr val="0F7B3D"/>
                </a:solidFill>
                <a:latin typeface="Montserrat ExtraBold"/>
                <a:ea typeface="Montserrat ExtraBold"/>
                <a:cs typeface="Montserrat ExtraBold"/>
              </a:rPr>
              <a:t>SCALES WITHOUT RETRAINING</a:t>
            </a:r>
          </a:p>
        </p:txBody>
      </p:sp>
      <p:sp>
        <p:nvSpPr>
          <p:cNvPr id="139" name="text – ▸ Tier 1 covers any Sentinel-2 footprint"/>
          <p:cNvSpPr txBox="1"/>
          <p:nvPr/>
        </p:nvSpPr>
        <p:spPr>
          <a:xfrm>
            <a:off x="12522200" y="5435600"/>
            <a:ext cx="4847792" cy="165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19" b="0" i="0">
                <a:solidFill>
                  <a:srgbClr val="0F7B3D"/>
                </a:solidFill>
                <a:latin typeface="Arial"/>
                <a:ea typeface="Arial"/>
                <a:cs typeface="Arial"/>
              </a:rPr>
              <a:t>▸</a:t>
            </a:r>
            <a:r>
              <a:rPr sz="1019" b="0" i="0">
                <a:solidFill>
                  <a:srgbClr val="0F7B3D"/>
                </a:solidFill>
                <a:latin typeface="Montserrat SemiBold"/>
                <a:ea typeface="Montserrat SemiBold"/>
                <a:cs typeface="Montserrat SemiBold"/>
              </a:rPr>
              <a:t> </a:t>
            </a:r>
            <a:r>
              <a:rPr sz="1019" b="0" i="0">
                <a:solidFill>
                  <a:srgbClr val="0B1F44"/>
                </a:solidFill>
                <a:latin typeface="Montserrat SemiBold"/>
                <a:ea typeface="Montserrat SemiBold"/>
                <a:cs typeface="Montserrat SemiBold"/>
              </a:rPr>
              <a:t>Tier 1 covers any Sentinel-2 footprint on Earth, no per-region model</a:t>
            </a:r>
          </a:p>
        </p:txBody>
      </p:sp>
      <p:sp>
        <p:nvSpPr>
          <p:cNvPr id="140" name="text – ▸ Library grows on demand (≈2 MB tiles) "/>
          <p:cNvSpPr txBox="1"/>
          <p:nvPr/>
        </p:nvSpPr>
        <p:spPr>
          <a:xfrm>
            <a:off x="12522200" y="5676900"/>
            <a:ext cx="4427105" cy="165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19" b="0" i="0">
                <a:solidFill>
                  <a:srgbClr val="0F7B3D"/>
                </a:solidFill>
                <a:latin typeface="Arial"/>
                <a:ea typeface="Arial"/>
                <a:cs typeface="Arial"/>
              </a:rPr>
              <a:t>▸</a:t>
            </a:r>
            <a:r>
              <a:rPr sz="1019" b="0" i="0">
                <a:solidFill>
                  <a:srgbClr val="0F7B3D"/>
                </a:solidFill>
                <a:latin typeface="Montserrat SemiBold"/>
                <a:ea typeface="Montserrat SemiBold"/>
                <a:cs typeface="Montserrat SemiBold"/>
              </a:rPr>
              <a:t> </a:t>
            </a:r>
            <a:r>
              <a:rPr sz="1019" b="0" i="0">
                <a:solidFill>
                  <a:srgbClr val="0B1F44"/>
                </a:solidFill>
                <a:latin typeface="Montserrat SemiBold"/>
                <a:ea typeface="Montserrat SemiBold"/>
                <a:cs typeface="Montserrat SemiBold"/>
              </a:rPr>
              <a:t>Library grows on demand (≈2 MB tiles) + Tauri in-app updater</a:t>
            </a:r>
          </a:p>
        </p:txBody>
      </p:sp>
      <p:sp>
        <p:nvSpPr>
          <p:cNvPr id="143" name="text – Depth models carry almost no height sign"/>
          <p:cNvSpPr txBox="1"/>
          <p:nvPr/>
        </p:nvSpPr>
        <p:spPr>
          <a:xfrm>
            <a:off x="990600" y="8077200"/>
            <a:ext cx="3787660" cy="3407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2"/>
              </a:lnSpc>
            </a:pPr>
            <a:r>
              <a:rPr sz="1040" b="1" i="0">
                <a:solidFill>
                  <a:srgbClr val="0B1F44"/>
                </a:solidFill>
                <a:latin typeface="Montserrat"/>
                <a:ea typeface="Montserrat"/>
                <a:cs typeface="Montserrat"/>
              </a:rPr>
              <a:t>Depth models carry almost no height signal at 10 m</a:t>
            </a:r>
            <a:br/>
            <a:r>
              <a:rPr sz="1040" b="1" i="0">
                <a:solidFill>
                  <a:srgbClr val="0B1F44"/>
                </a:solidFill>
                <a:latin typeface="Montserrat"/>
                <a:ea typeface="Montserrat"/>
                <a:cs typeface="Montserrat"/>
              </a:rPr>
              <a:t>(within-crop </a:t>
            </a:r>
            <a:r>
              <a:rPr sz="1040" b="1" i="0">
                <a:solidFill>
                  <a:srgbClr val="0B1F44"/>
                </a:solidFill>
                <a:latin typeface="Arial"/>
                <a:ea typeface="Arial"/>
                <a:cs typeface="Arial"/>
              </a:rPr>
              <a:t>ρ</a:t>
            </a:r>
            <a:r>
              <a:rPr sz="1040" b="1" i="0">
                <a:solidFill>
                  <a:srgbClr val="0B1F44"/>
                </a:solidFill>
                <a:latin typeface="Montserrat"/>
                <a:ea typeface="Montserrat"/>
                <a:cs typeface="Montserrat"/>
              </a:rPr>
              <a:t> ≈ 0.11–0.13).</a:t>
            </a:r>
          </a:p>
        </p:txBody>
      </p:sp>
      <p:sp>
        <p:nvSpPr>
          <p:cNvPr id="144" name="text – Two-tier routing: Sentinel-2 is locked t"/>
          <p:cNvSpPr txBox="1"/>
          <p:nvPr/>
        </p:nvSpPr>
        <p:spPr>
          <a:xfrm>
            <a:off x="990600" y="8813800"/>
            <a:ext cx="3523468" cy="3407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2"/>
              </a:lnSpc>
            </a:pPr>
            <a:r>
              <a:rPr sz="1040" b="0" i="0">
                <a:solidFill>
                  <a:srgbClr val="1F3B2A"/>
                </a:solidFill>
                <a:latin typeface="Montserrat Medium"/>
                <a:ea typeface="Montserrat Medium"/>
                <a:cs typeface="Montserrat Medium"/>
              </a:rPr>
              <a:t>Two-tier routing: Sentinel-2 is locked to calibrated</a:t>
            </a:r>
            <a:br/>
            <a:r>
              <a:rPr sz="1040" b="0" i="0">
                <a:solidFill>
                  <a:srgbClr val="1F3B2A"/>
                </a:solidFill>
                <a:latin typeface="Montserrat Medium"/>
                <a:ea typeface="Montserrat Medium"/>
                <a:cs typeface="Montserrat Medium"/>
              </a:rPr>
              <a:t>DEM; the height model runs only on VHR.</a:t>
            </a:r>
          </a:p>
        </p:txBody>
      </p:sp>
      <p:sp>
        <p:nvSpPr>
          <p:cNvPr id="145" name="text – Desktop installer was 854.5 MB, mostly t"/>
          <p:cNvSpPr txBox="1"/>
          <p:nvPr/>
        </p:nvSpPr>
        <p:spPr>
          <a:xfrm>
            <a:off x="5334000" y="8077200"/>
            <a:ext cx="3786188" cy="3407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2"/>
              </a:lnSpc>
            </a:pPr>
            <a:r>
              <a:rPr sz="1040" b="1" i="0">
                <a:solidFill>
                  <a:srgbClr val="0B1F44"/>
                </a:solidFill>
                <a:latin typeface="Montserrat"/>
                <a:ea typeface="Montserrat"/>
                <a:cs typeface="Montserrat"/>
              </a:rPr>
              <a:t>Desktop installer was 854.5 MB, mostly the PyTorch</a:t>
            </a:r>
            <a:br/>
            <a:r>
              <a:rPr sz="1040" b="1" i="0">
                <a:solidFill>
                  <a:srgbClr val="0B1F44"/>
                </a:solidFill>
                <a:latin typeface="Montserrat"/>
                <a:ea typeface="Montserrat"/>
                <a:cs typeface="Montserrat"/>
              </a:rPr>
              <a:t>CPU runtime.</a:t>
            </a:r>
          </a:p>
        </p:txBody>
      </p:sp>
      <p:sp>
        <p:nvSpPr>
          <p:cNvPr id="146" name="text – Swapped to ONNX Runtime after a parity c"/>
          <p:cNvSpPr txBox="1"/>
          <p:nvPr/>
        </p:nvSpPr>
        <p:spPr>
          <a:xfrm>
            <a:off x="5334000" y="8813800"/>
            <a:ext cx="3375807" cy="3407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2"/>
              </a:lnSpc>
            </a:pPr>
            <a:r>
              <a:rPr sz="1040" b="0" i="0">
                <a:solidFill>
                  <a:srgbClr val="1F3B2A"/>
                </a:solidFill>
                <a:latin typeface="Montserrat Medium"/>
                <a:ea typeface="Montserrat Medium"/>
                <a:cs typeface="Montserrat Medium"/>
              </a:rPr>
              <a:t>Swapped to ONNX Runtime after a parity check</a:t>
            </a:r>
            <a:br/>
            <a:r>
              <a:rPr sz="1040" b="0" i="0">
                <a:solidFill>
                  <a:srgbClr val="1F3B2A"/>
                </a:solidFill>
                <a:latin typeface="Montserrat Medium"/>
                <a:ea typeface="Montserrat Medium"/>
                <a:cs typeface="Montserrat Medium"/>
              </a:rPr>
              <a:t>(Pearson 1.000): 352.1 MB.</a:t>
            </a:r>
          </a:p>
        </p:txBody>
      </p:sp>
      <p:sp>
        <p:nvSpPr>
          <p:cNvPr id="147" name="text – Free hosting hit paid walls: R2 needs a "/>
          <p:cNvSpPr txBox="1"/>
          <p:nvPr/>
        </p:nvSpPr>
        <p:spPr>
          <a:xfrm>
            <a:off x="9677400" y="8077200"/>
            <a:ext cx="3454055" cy="3407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2"/>
              </a:lnSpc>
            </a:pPr>
            <a:r>
              <a:rPr sz="1040" b="1" i="0">
                <a:solidFill>
                  <a:srgbClr val="0B1F44"/>
                </a:solidFill>
                <a:latin typeface="Montserrat"/>
                <a:ea typeface="Montserrat"/>
                <a:cs typeface="Montserrat"/>
              </a:rPr>
              <a:t>Free hosting hit paid walls: R2 needs a card, HF</a:t>
            </a:r>
            <a:br/>
            <a:r>
              <a:rPr sz="1040" b="1" i="0">
                <a:solidFill>
                  <a:srgbClr val="0B1F44"/>
                </a:solidFill>
                <a:latin typeface="Montserrat"/>
                <a:ea typeface="Montserrat"/>
                <a:cs typeface="Montserrat"/>
              </a:rPr>
              <a:t>Spaces needs PRO.</a:t>
            </a:r>
          </a:p>
        </p:txBody>
      </p:sp>
      <p:sp>
        <p:nvSpPr>
          <p:cNvPr id="148" name="text – Found a no-card path on HF ZeroGPU, veri"/>
          <p:cNvSpPr txBox="1"/>
          <p:nvPr/>
        </p:nvSpPr>
        <p:spPr>
          <a:xfrm>
            <a:off x="9677400" y="8813800"/>
            <a:ext cx="3922701" cy="3407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2"/>
              </a:lnSpc>
            </a:pPr>
            <a:r>
              <a:rPr sz="1040" b="0" i="0">
                <a:solidFill>
                  <a:srgbClr val="1F3B2A"/>
                </a:solidFill>
                <a:latin typeface="Montserrat Medium"/>
                <a:ea typeface="Montserrat Medium"/>
                <a:cs typeface="Montserrat Medium"/>
              </a:rPr>
              <a:t>Found a no-card path on HF ZeroGPU, verified with 585</a:t>
            </a:r>
            <a:br/>
            <a:r>
              <a:rPr sz="1040" b="0" i="0">
                <a:solidFill>
                  <a:srgbClr val="1F3B2A"/>
                </a:solidFill>
                <a:latin typeface="Montserrat Medium"/>
                <a:ea typeface="Montserrat Medium"/>
                <a:cs typeface="Montserrat Medium"/>
              </a:rPr>
              <a:t>real calls in a day.</a:t>
            </a:r>
          </a:p>
        </p:txBody>
      </p:sp>
      <p:sp>
        <p:nvSpPr>
          <p:cNvPr id="149" name="text – A vertical-datum mismatch (EGM2008 vs WG"/>
          <p:cNvSpPr txBox="1"/>
          <p:nvPr/>
        </p:nvSpPr>
        <p:spPr>
          <a:xfrm>
            <a:off x="14020800" y="8077200"/>
            <a:ext cx="3632426" cy="3407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2"/>
              </a:lnSpc>
            </a:pPr>
            <a:r>
              <a:rPr sz="1040" b="1" i="0">
                <a:solidFill>
                  <a:srgbClr val="0B1F44"/>
                </a:solidFill>
                <a:latin typeface="Montserrat"/>
                <a:ea typeface="Montserrat"/>
                <a:cs typeface="Montserrat"/>
              </a:rPr>
              <a:t>A vertical-datum mismatch (EGM2008 vs WGS84)</a:t>
            </a:r>
            <a:br/>
            <a:r>
              <a:rPr sz="1040" b="1" i="0">
                <a:solidFill>
                  <a:srgbClr val="0B1F44"/>
                </a:solidFill>
                <a:latin typeface="Montserrat"/>
                <a:ea typeface="Montserrat"/>
                <a:cs typeface="Montserrat"/>
              </a:rPr>
              <a:t>inflated calibration error.</a:t>
            </a:r>
          </a:p>
        </p:txBody>
      </p:sp>
      <p:sp>
        <p:nvSpPr>
          <p:cNvPr id="150" name="text – Root-caused from the bias ≈ RMSE pattern"/>
          <p:cNvSpPr txBox="1"/>
          <p:nvPr/>
        </p:nvSpPr>
        <p:spPr>
          <a:xfrm>
            <a:off x="14020800" y="8813800"/>
            <a:ext cx="3743067" cy="34071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2"/>
              </a:lnSpc>
            </a:pPr>
            <a:r>
              <a:rPr sz="1040" b="0" i="0">
                <a:solidFill>
                  <a:srgbClr val="1F3B2A"/>
                </a:solidFill>
                <a:latin typeface="Montserrat Medium"/>
                <a:ea typeface="Montserrat Medium"/>
                <a:cs typeface="Montserrat Medium"/>
              </a:rPr>
              <a:t>Root-caused from the bias ≈ RMSE pattern and fixed:</a:t>
            </a:r>
            <a:br/>
            <a:r>
              <a:rPr sz="1040" b="0" i="0">
                <a:solidFill>
                  <a:srgbClr val="1F3B2A"/>
                </a:solidFill>
                <a:latin typeface="Montserrat Medium"/>
                <a:ea typeface="Montserrat Medium"/>
                <a:cs typeface="Montserrat Medium"/>
              </a:rPr>
              <a:t>DEM calibration now holds on all 4 terrain types.</a:t>
            </a:r>
          </a:p>
        </p:txBody>
      </p:sp>
      <p:grpSp>
        <p:nvGrpSpPr>
          <p:cNvPr id="71" name="Market &amp; Govt. fit infographic"/>
          <p:cNvGrpSpPr/>
          <p:nvPr/>
        </p:nvGrpSpPr>
        <p:grpSpPr>
          <a:xfrm>
            <a:off x="12522200" y="6096000"/>
            <a:ext cx="5156200" cy="1231900"/>
            <a:chOff x="12522200" y="6096000"/>
            <a:chExt cx="5156200" cy="1231900"/>
          </a:xfrm>
        </p:grpSpPr>
        <p:sp>
          <p:nvSpPr>
            <p:cNvPr id="151" name="heading – MARKET &amp; GOVT. FIT"/>
            <p:cNvSpPr txBox="1"/>
            <p:nvPr/>
          </p:nvSpPr>
          <p:spPr>
            <a:xfrm>
              <a:off x="12522200" y="6096000"/>
              <a:ext cx="2794000" cy="1905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1200" b="0" i="0" spc="48">
                  <a:solidFill>
                    <a:srgbClr val="0F7B3D"/>
                  </a:solidFill>
                  <a:latin typeface="Montserrat ExtraBold"/>
                  <a:ea typeface="Montserrat ExtraBold"/>
                  <a:cs typeface="Montserrat ExtraBold"/>
                </a:rPr>
                <a:t>MARKET &amp; GOVT. FIT</a:t>
              </a:r>
            </a:p>
          </p:txBody>
        </p:sp>
        <p:sp>
          <p:nvSpPr>
            <p:cNvPr id="152" name="sources"/>
            <p:cNvSpPr txBox="1"/>
            <p:nvPr/>
          </p:nvSpPr>
          <p:spPr>
            <a:xfrm>
              <a:off x="15011400" y="6134100"/>
              <a:ext cx="2667000" cy="1270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r">
                <a:lnSpc>
                  <a:spcPct val="95000"/>
                </a:lnSpc>
              </a:pPr>
              <a:r>
                <a:rPr sz="580" b="0" i="1">
                  <a:solidFill>
                    <a:srgbClr val="9AA4B2"/>
                  </a:solidFill>
                  <a:latin typeface="Montserrat Medium"/>
                  <a:ea typeface="Montserrat Medium"/>
                  <a:cs typeface="Montserrat Medium"/>
                </a:rPr>
                <a:t>Mordor Intelligence 2026 · MHA/PIB · NDMA · NRSC</a:t>
              </a:r>
            </a:p>
          </p:txBody>
        </p:sp>
        <p:sp>
          <p:nvSpPr>
            <p:cNvPr id="153" name="kpi – $1.81 B"/>
            <p:cNvSpPr txBox="1"/>
            <p:nvPr/>
          </p:nvSpPr>
          <p:spPr>
            <a:xfrm>
              <a:off x="12522200" y="6350000"/>
              <a:ext cx="1143000" cy="2540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1700" b="0" i="0">
                  <a:solidFill>
                    <a:srgbClr val="0B1F44"/>
                  </a:solidFill>
                  <a:latin typeface="Montserrat ExtraBold"/>
                  <a:ea typeface="Montserrat ExtraBold"/>
                  <a:cs typeface="Montserrat ExtraBold"/>
                </a:rPr>
                <a:t>$1.81 B</a:t>
              </a:r>
            </a:p>
          </p:txBody>
        </p:sp>
        <p:sp>
          <p:nvSpPr>
            <p:cNvPr id="154" name="kpi label"/>
            <p:cNvSpPr txBox="1"/>
            <p:nvPr/>
          </p:nvSpPr>
          <p:spPr>
            <a:xfrm>
              <a:off x="12522200" y="6616700"/>
              <a:ext cx="1066800" cy="2540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650" b="0" i="0">
                  <a:solidFill>
                    <a:srgbClr val="5B6675"/>
                  </a:solidFill>
                  <a:latin typeface="Montserrat Medium"/>
                  <a:ea typeface="Montserrat Medium"/>
                  <a:cs typeface="Montserrat Medium"/>
                </a:rPr>
                <a:t>India geospatial analytics market, 2026</a:t>
              </a:r>
            </a:p>
          </p:txBody>
        </p:sp>
        <p:sp>
          <p:nvSpPr>
            <p:cNvPr id="155" name="chip – CAGR"/>
            <p:cNvSpPr/>
            <p:nvPr/>
          </p:nvSpPr>
          <p:spPr>
            <a:xfrm>
              <a:off x="12522200" y="6946900"/>
              <a:ext cx="1016000" cy="177800"/>
            </a:xfrm>
            <a:prstGeom prst="roundRect">
              <a:avLst>
                <a:gd name="adj" fmla="val 50000"/>
              </a:avLst>
            </a:prstGeom>
            <a:solidFill>
              <a:srgbClr val="FFF1E6"/>
            </a:solidFill>
            <a:ln w="11430">
              <a:solidFill>
                <a:srgbClr val="E066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chip text – 14.43% CAGR"/>
            <p:cNvSpPr txBox="1"/>
            <p:nvPr/>
          </p:nvSpPr>
          <p:spPr>
            <a:xfrm>
              <a:off x="12522200" y="6946900"/>
              <a:ext cx="1016000" cy="1778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sz="700" b="1" i="0">
                  <a:solidFill>
                    <a:srgbClr val="E0661A"/>
                  </a:solidFill>
                  <a:latin typeface="Montserrat"/>
                  <a:ea typeface="Montserrat"/>
                  <a:cs typeface="Montserrat"/>
                </a:rPr>
                <a:t>14.43% CAGR</a:t>
              </a:r>
            </a:p>
          </p:txBody>
        </p:sp>
        <p:sp>
          <p:nvSpPr>
            <p:cNvPr id="157" name="bar – 2025 $1.58 B"/>
            <p:cNvSpPr/>
            <p:nvPr/>
          </p:nvSpPr>
          <p:spPr>
            <a:xfrm>
              <a:off x="13716000" y="6905580"/>
              <a:ext cx="279400" cy="282620"/>
            </a:xfrm>
            <a:prstGeom prst="rect">
              <a:avLst/>
            </a:prstGeom>
            <a:solidFill>
              <a:srgbClr val="C2CDD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bar value – 2025"/>
            <p:cNvSpPr txBox="1"/>
            <p:nvPr/>
          </p:nvSpPr>
          <p:spPr>
            <a:xfrm>
              <a:off x="13639800" y="6791280"/>
              <a:ext cx="431800" cy="1016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sz="630" b="1" i="0">
                  <a:solidFill>
                    <a:srgbClr val="0B1F44"/>
                  </a:solidFill>
                  <a:latin typeface="Montserrat"/>
                  <a:ea typeface="Montserrat"/>
                  <a:cs typeface="Montserrat"/>
                </a:rPr>
                <a:t>$1.58B</a:t>
              </a:r>
            </a:p>
          </p:txBody>
        </p:sp>
        <p:sp>
          <p:nvSpPr>
            <p:cNvPr id="159" name="bar year – 2025"/>
            <p:cNvSpPr txBox="1"/>
            <p:nvPr/>
          </p:nvSpPr>
          <p:spPr>
            <a:xfrm>
              <a:off x="13639800" y="7213600"/>
              <a:ext cx="431800" cy="1016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sz="600" b="0" i="0">
                  <a:solidFill>
                    <a:srgbClr val="5B6675"/>
                  </a:solidFill>
                  <a:latin typeface="Montserrat SemiBold"/>
                  <a:ea typeface="Montserrat SemiBold"/>
                  <a:cs typeface="Montserrat SemiBold"/>
                </a:rPr>
                <a:t>2025</a:t>
              </a:r>
            </a:p>
          </p:txBody>
        </p:sp>
        <p:sp>
          <p:nvSpPr>
            <p:cNvPr id="160" name="bar – 2026 $1.81 B"/>
            <p:cNvSpPr/>
            <p:nvPr/>
          </p:nvSpPr>
          <p:spPr>
            <a:xfrm>
              <a:off x="14097000" y="6864439"/>
              <a:ext cx="279400" cy="323761"/>
            </a:xfrm>
            <a:prstGeom prst="rect">
              <a:avLst/>
            </a:prstGeom>
            <a:solidFill>
              <a:srgbClr val="0C62C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bar value – 2026"/>
            <p:cNvSpPr txBox="1"/>
            <p:nvPr/>
          </p:nvSpPr>
          <p:spPr>
            <a:xfrm>
              <a:off x="14020800" y="6750139"/>
              <a:ext cx="431800" cy="1016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sz="630" b="1" i="0">
                  <a:solidFill>
                    <a:srgbClr val="0C62C6"/>
                  </a:solidFill>
                  <a:latin typeface="Montserrat"/>
                  <a:ea typeface="Montserrat"/>
                  <a:cs typeface="Montserrat"/>
                </a:rPr>
                <a:t>$1.81B</a:t>
              </a:r>
            </a:p>
          </p:txBody>
        </p:sp>
        <p:sp>
          <p:nvSpPr>
            <p:cNvPr id="162" name="bar year – 2026"/>
            <p:cNvSpPr txBox="1"/>
            <p:nvPr/>
          </p:nvSpPr>
          <p:spPr>
            <a:xfrm>
              <a:off x="14020800" y="7213600"/>
              <a:ext cx="431800" cy="1016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sz="600" b="0" i="0">
                  <a:solidFill>
                    <a:srgbClr val="5B6675"/>
                  </a:solidFill>
                  <a:latin typeface="Montserrat SemiBold"/>
                  <a:ea typeface="Montserrat SemiBold"/>
                  <a:cs typeface="Montserrat SemiBold"/>
                </a:rPr>
                <a:t>2026</a:t>
              </a:r>
            </a:p>
          </p:txBody>
        </p:sp>
        <p:sp>
          <p:nvSpPr>
            <p:cNvPr id="163" name="bar – 2031F $3.55 B"/>
            <p:cNvSpPr/>
            <p:nvPr/>
          </p:nvSpPr>
          <p:spPr>
            <a:xfrm>
              <a:off x="14478000" y="6553200"/>
              <a:ext cx="279400" cy="635000"/>
            </a:xfrm>
            <a:prstGeom prst="rect">
              <a:avLst/>
            </a:prstGeom>
            <a:solidFill>
              <a:srgbClr val="0F7B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bar value – 2031F"/>
            <p:cNvSpPr txBox="1"/>
            <p:nvPr/>
          </p:nvSpPr>
          <p:spPr>
            <a:xfrm>
              <a:off x="14401800" y="6438900"/>
              <a:ext cx="431800" cy="1016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sz="630" b="1" i="0">
                  <a:solidFill>
                    <a:srgbClr val="0F7B3D"/>
                  </a:solidFill>
                  <a:latin typeface="Montserrat"/>
                  <a:ea typeface="Montserrat"/>
                  <a:cs typeface="Montserrat"/>
                </a:rPr>
                <a:t>$3.55B</a:t>
              </a:r>
            </a:p>
          </p:txBody>
        </p:sp>
        <p:sp>
          <p:nvSpPr>
            <p:cNvPr id="165" name="bar year – 2031F"/>
            <p:cNvSpPr txBox="1"/>
            <p:nvPr/>
          </p:nvSpPr>
          <p:spPr>
            <a:xfrm>
              <a:off x="14401800" y="7213600"/>
              <a:ext cx="431800" cy="1016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sz="600" b="0" i="0">
                  <a:solidFill>
                    <a:srgbClr val="5B6675"/>
                  </a:solidFill>
                  <a:latin typeface="Montserrat SemiBold"/>
                  <a:ea typeface="Montserrat SemiBold"/>
                  <a:cs typeface="Montserrat SemiBold"/>
                </a:rPr>
                <a:t>2031F</a:t>
              </a:r>
            </a:p>
          </p:txBody>
        </p:sp>
        <p:cxnSp>
          <p:nvCxnSpPr>
            <p:cNvPr id="166" name="bar baseline"/>
            <p:cNvCxnSpPr/>
            <p:nvPr/>
          </p:nvCxnSpPr>
          <p:spPr>
            <a:xfrm>
              <a:off x="13665200" y="7188200"/>
              <a:ext cx="1219200" cy="0"/>
            </a:xfrm>
            <a:prstGeom prst="line">
              <a:avLst/>
            </a:prstGeom>
            <a:ln w="10160">
              <a:solidFill>
                <a:srgbClr val="9AA4B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divider"/>
            <p:cNvCxnSpPr/>
            <p:nvPr/>
          </p:nvCxnSpPr>
          <p:spPr>
            <a:xfrm>
              <a:off x="15011400" y="6350000"/>
              <a:ext cx="0" cy="977900"/>
            </a:xfrm>
            <a:prstGeom prst="line">
              <a:avLst/>
            </a:prstGeom>
            <a:ln w="10160">
              <a:solidFill>
                <a:srgbClr val="C2CDDD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govt amount – ₹13,693 cr"/>
            <p:cNvSpPr txBox="1"/>
            <p:nvPr/>
          </p:nvSpPr>
          <p:spPr>
            <a:xfrm>
              <a:off x="15113000" y="6350000"/>
              <a:ext cx="736600" cy="215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850" b="0" i="0">
                  <a:solidFill>
                    <a:srgbClr val="C00000"/>
                  </a:solidFill>
                  <a:latin typeface="Montserrat ExtraBold"/>
                  <a:ea typeface="Montserrat ExtraBold"/>
                  <a:cs typeface="Montserrat ExtraBold"/>
                </a:rPr>
                <a:t>₹13,693 cr</a:t>
              </a:r>
            </a:p>
          </p:txBody>
        </p:sp>
        <p:sp>
          <p:nvSpPr>
            <p:cNvPr id="169" name="govt desc – ₹13,693 cr"/>
            <p:cNvSpPr txBox="1"/>
            <p:nvPr/>
          </p:nvSpPr>
          <p:spPr>
            <a:xfrm>
              <a:off x="15849600" y="6350000"/>
              <a:ext cx="1828800" cy="2159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640" b="0" i="0">
                  <a:solidFill>
                    <a:srgbClr val="0B1F44"/>
                  </a:solidFill>
                  <a:latin typeface="Montserrat Medium"/>
                  <a:ea typeface="Montserrat Medium"/>
                  <a:cs typeface="Montserrat Medium"/>
                </a:rPr>
                <a:t>Disaster Mitigation Fund</a:t>
              </a:r>
            </a:p>
            <a:p>
              <a:pPr algn="l">
                <a:lnSpc>
                  <a:spcPct val="95000"/>
                </a:lnSpc>
              </a:pPr>
              <a:r>
                <a:rPr sz="640" b="0" i="0">
                  <a:solidFill>
                    <a:srgbClr val="0B1F44"/>
                  </a:solidFill>
                  <a:latin typeface="Montserrat Medium"/>
                  <a:ea typeface="Montserrat Medium"/>
                  <a:cs typeface="Montserrat Medium"/>
                </a:rPr>
                <a:t>(NDMF, 15th FC), 2021–26</a:t>
              </a:r>
            </a:p>
          </p:txBody>
        </p:sp>
        <p:sp>
          <p:nvSpPr>
            <p:cNvPr id="170" name="govt amount – ₹1,000 cr"/>
            <p:cNvSpPr txBox="1"/>
            <p:nvPr/>
          </p:nvSpPr>
          <p:spPr>
            <a:xfrm>
              <a:off x="15113000" y="6597650"/>
              <a:ext cx="736600" cy="215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850" b="0" i="0">
                  <a:solidFill>
                    <a:srgbClr val="E0661A"/>
                  </a:solidFill>
                  <a:latin typeface="Montserrat ExtraBold"/>
                  <a:ea typeface="Montserrat ExtraBold"/>
                  <a:cs typeface="Montserrat ExtraBold"/>
                </a:rPr>
                <a:t>₹1,000 cr</a:t>
              </a:r>
            </a:p>
          </p:txBody>
        </p:sp>
        <p:sp>
          <p:nvSpPr>
            <p:cNvPr id="171" name="govt desc – ₹1,000 cr"/>
            <p:cNvSpPr txBox="1"/>
            <p:nvPr/>
          </p:nvSpPr>
          <p:spPr>
            <a:xfrm>
              <a:off x="15849600" y="6597650"/>
              <a:ext cx="1828800" cy="2159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640" b="0" i="0">
                  <a:solidFill>
                    <a:srgbClr val="0B1F44"/>
                  </a:solidFill>
                  <a:latin typeface="Montserrat Medium"/>
                  <a:ea typeface="Montserrat Medium"/>
                  <a:cs typeface="Montserrat Medium"/>
                </a:rPr>
                <a:t>Landslide mitigation (NLRMP)</a:t>
              </a:r>
            </a:p>
            <a:p>
              <a:pPr algn="l">
                <a:lnSpc>
                  <a:spcPct val="95000"/>
                </a:lnSpc>
              </a:pPr>
              <a:r>
                <a:rPr sz="640" b="0" i="0">
                  <a:solidFill>
                    <a:srgbClr val="0B1F44"/>
                  </a:solidFill>
                  <a:latin typeface="Montserrat Medium"/>
                  <a:ea typeface="Montserrat Medium"/>
                  <a:cs typeface="Montserrat Medium"/>
                </a:rPr>
                <a:t>15 states · approved Nov 2024</a:t>
              </a:r>
            </a:p>
          </p:txBody>
        </p:sp>
        <p:sp>
          <p:nvSpPr>
            <p:cNvPr id="172" name="govt amount – ₹150 cr"/>
            <p:cNvSpPr txBox="1"/>
            <p:nvPr/>
          </p:nvSpPr>
          <p:spPr>
            <a:xfrm>
              <a:off x="15113000" y="6845300"/>
              <a:ext cx="736600" cy="215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850" b="0" i="0">
                  <a:solidFill>
                    <a:srgbClr val="0C62C6"/>
                  </a:solidFill>
                  <a:latin typeface="Montserrat ExtraBold"/>
                  <a:ea typeface="Montserrat ExtraBold"/>
                  <a:cs typeface="Montserrat ExtraBold"/>
                </a:rPr>
                <a:t>₹150 cr</a:t>
              </a:r>
            </a:p>
          </p:txBody>
        </p:sp>
        <p:sp>
          <p:nvSpPr>
            <p:cNvPr id="173" name="govt desc – ₹150 cr"/>
            <p:cNvSpPr txBox="1"/>
            <p:nvPr/>
          </p:nvSpPr>
          <p:spPr>
            <a:xfrm>
              <a:off x="15849600" y="6845300"/>
              <a:ext cx="1828800" cy="2159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640" b="0" i="0">
                  <a:solidFill>
                    <a:srgbClr val="0B1F44"/>
                  </a:solidFill>
                  <a:latin typeface="Montserrat Medium"/>
                  <a:ea typeface="Montserrat Medium"/>
                  <a:cs typeface="Montserrat Medium"/>
                </a:rPr>
                <a:t>Glacial-lake flood mitigation</a:t>
              </a:r>
            </a:p>
            <a:p>
              <a:pPr algn="l">
                <a:lnSpc>
                  <a:spcPct val="95000"/>
                </a:lnSpc>
              </a:pPr>
              <a:r>
                <a:rPr sz="640" b="0" i="0">
                  <a:solidFill>
                    <a:srgbClr val="0B1F44"/>
                  </a:solidFill>
                  <a:latin typeface="Montserrat Medium"/>
                  <a:ea typeface="Montserrat Medium"/>
                  <a:cs typeface="Montserrat Medium"/>
                </a:rPr>
                <a:t>Sikkim, HP, UK, Arunachal</a:t>
              </a:r>
            </a:p>
          </p:txBody>
        </p:sp>
        <p:sp>
          <p:nvSpPr>
            <p:cNvPr id="174" name="govt amount – NDEM"/>
            <p:cNvSpPr txBox="1"/>
            <p:nvPr/>
          </p:nvSpPr>
          <p:spPr>
            <a:xfrm>
              <a:off x="15113000" y="7092950"/>
              <a:ext cx="736600" cy="2159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850" b="0" i="0">
                  <a:solidFill>
                    <a:srgbClr val="8064A2"/>
                  </a:solidFill>
                  <a:latin typeface="Montserrat ExtraBold"/>
                  <a:ea typeface="Montserrat ExtraBold"/>
                  <a:cs typeface="Montserrat ExtraBold"/>
                </a:rPr>
                <a:t>NDEM</a:t>
              </a:r>
            </a:p>
          </p:txBody>
        </p:sp>
        <p:sp>
          <p:nvSpPr>
            <p:cNvPr id="175" name="govt desc – NDEM"/>
            <p:cNvSpPr txBox="1"/>
            <p:nvPr/>
          </p:nvSpPr>
          <p:spPr>
            <a:xfrm>
              <a:off x="15849600" y="7092950"/>
              <a:ext cx="1828800" cy="2159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640" b="0" i="0">
                  <a:solidFill>
                    <a:srgbClr val="0B1F44"/>
                  </a:solidFill>
                  <a:latin typeface="Montserrat Medium"/>
                  <a:ea typeface="Montserrat Medium"/>
                  <a:cs typeface="Montserrat Medium"/>
                </a:rPr>
                <a:t>ISRO-NRSC disaster geo-portal</a:t>
              </a:r>
            </a:p>
            <a:p>
              <a:pPr algn="l">
                <a:lnSpc>
                  <a:spcPct val="95000"/>
                </a:lnSpc>
              </a:pPr>
              <a:r>
                <a:rPr sz="640" b="0" i="0">
                  <a:solidFill>
                    <a:srgbClr val="0B1F44"/>
                  </a:solidFill>
                  <a:latin typeface="Montserrat Medium"/>
                  <a:ea typeface="Montserrat Medium"/>
                  <a:cs typeface="Montserrat Medium"/>
                </a:rPr>
                <a:t>built under NDMA guidance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DAHVTj7X39E</dc:identifier>
  <dcterms:modified xsi:type="dcterms:W3CDTF">2011-08-01T06:04:30Z</dcterms:modified>
  <cp:revision>1</cp:revision>
  <dc:title>NMIET_SIH_2026_PPT_Template.pptx</dc:title>
</cp:coreProperties>
</file>