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w_icon1.svg" ContentType="image/svg+xml"/>
  <Override PartName="/ppt/media/dw_icon10.svg" ContentType="image/svg+xml"/>
  <Override PartName="/ppt/media/dw_icon11.svg" ContentType="image/svg+xml"/>
  <Override PartName="/ppt/media/dw_icon12.svg" ContentType="image/svg+xml"/>
  <Override PartName="/ppt/media/dw_icon2.svg" ContentType="image/svg+xml"/>
  <Override PartName="/ppt/media/dw_icon3.svg" ContentType="image/svg+xml"/>
  <Override PartName="/ppt/media/dw_icon4.svg" ContentType="image/svg+xml"/>
  <Override PartName="/ppt/media/dw_icon5.svg" ContentType="image/svg+xml"/>
  <Override PartName="/ppt/media/dw_icon6.svg" ContentType="image/svg+xml"/>
  <Override PartName="/ppt/media/dw_icon7.svg" ContentType="image/svg+xml"/>
  <Override PartName="/ppt/media/dw_icon8.svg" ContentType="image/svg+xml"/>
  <Override PartName="/ppt/media/dw_icon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7" r:id="rId14"/>
  </p:sldIdLst>
  <p:sldSz cx="18288000" cy="10287000"/>
  <p:notesSz cx="6858000" cy="9144000"/>
  <p:embeddedFontLst>
    <p:embeddedFont>
      <p:font typeface="Montserrat Bold" charset="1" panose="00000800000000000000"/>
      <p:regular r:id="rId7"/>
    </p:embeddedFont>
    <p:embeddedFont>
      <p:font typeface="Montserrat Medium Italics" charset="1" panose="00000600000000000000"/>
      <p:regular r:id="rId8"/>
    </p:embeddedFont>
    <p:embeddedFont>
      <p:font typeface="Montserrat Bold Italics" charset="1" panose="00000800000000000000"/>
      <p:regular r:id="rId9"/>
    </p:embeddedFont>
    <p:embeddedFont>
      <p:font typeface="TT Drugs Bold" charset="1" panose="02000803060000020003"/>
      <p:regular r:id="rId10"/>
    </p:embeddedFont>
    <p:embeddedFont>
      <p:font typeface="Montserrat Ultra-Bold" charset="1" panose="00000900000000000000"/>
      <p:regular r:id="rId11"/>
    </p:embeddedFont>
    <p:embeddedFont>
      <p:font typeface="Montserrat Semi-Bold" charset="1" panose="00000700000000000000"/>
      <p:regular r:id="rId12"/>
    </p:embeddedFont>
    <p:embeddedFont>
      <p:font typeface="Rubik Distresse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dw_icon1.svg"/><Relationship Id="rId5" Type="http://schemas.openxmlformats.org/officeDocument/2006/relationships/image" Target="../media/image3.png"/><Relationship Id="rId6" Type="http://schemas.openxmlformats.org/officeDocument/2006/relationships/image" Target="../media/dw_icon2.svg"/><Relationship Id="rId7" Type="http://schemas.openxmlformats.org/officeDocument/2006/relationships/image" Target="../media/image4.png"/><Relationship Id="rId8" Type="http://schemas.openxmlformats.org/officeDocument/2006/relationships/image" Target="../media/dw_icon3.svg"/><Relationship Id="rId9" Type="http://schemas.openxmlformats.org/officeDocument/2006/relationships/image" Target="../media/image5.png"/><Relationship Id="rId10" Type="http://schemas.openxmlformats.org/officeDocument/2006/relationships/image" Target="../media/dw_icon4.sv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dw_icon5.svg"/><Relationship Id="rId18" Type="http://schemas.openxmlformats.org/officeDocument/2006/relationships/image" Target="../media/image12.png"/><Relationship Id="rId19" Type="http://schemas.openxmlformats.org/officeDocument/2006/relationships/image" Target="../media/dw_icon6.svg"/><Relationship Id="rId20" Type="http://schemas.openxmlformats.org/officeDocument/2006/relationships/image" Target="../media/dw_icon7.svg"/><Relationship Id="rId21" Type="http://schemas.openxmlformats.org/officeDocument/2006/relationships/image" Target="../media/dw_icon8.svg"/><Relationship Id="rId22" Type="http://schemas.openxmlformats.org/officeDocument/2006/relationships/image" Target="../media/dw_icon9.svg"/><Relationship Id="rId23" Type="http://schemas.openxmlformats.org/officeDocument/2006/relationships/image" Target="../media/dw_icon10.svg"/><Relationship Id="rId24" Type="http://schemas.openxmlformats.org/officeDocument/2006/relationships/image" Target="../media/dw_icon11.svg"/><Relationship Id="rId25" Type="http://schemas.openxmlformats.org/officeDocument/2006/relationships/image" Target="../media/dw_icon1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rket &amp; Govt. fit infographic"/>
          <p:cNvGrpSpPr/>
          <p:nvPr/>
        </p:nvGrpSpPr>
        <p:grpSpPr>
          <a:xfrm>
            <a:off x="12522200" y="6096000"/>
            <a:ext cx="5156200" cy="1231900"/>
            <a:chOff x="12522200" y="6096000"/>
            <a:chExt cx="5156200" cy="1231900"/>
          </a:xfrm>
        </p:grpSpPr>
        <p:sp>
          <p:nvSpPr>
            <p:cNvPr id="3" name="heading – MARKET &amp; GOVT. FIT"/>
            <p:cNvSpPr txBox="1"/>
            <p:nvPr/>
          </p:nvSpPr>
          <p:spPr>
            <a:xfrm>
              <a:off x="12522200" y="609600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200" b="0" i="0" spc="48">
                  <a:solidFill>
                    <a:srgbClr val="0F7B3D"/>
                  </a:solidFill>
                  <a:latin typeface="Montserrat ExtraBold"/>
                  <a:ea typeface="Montserrat ExtraBold"/>
                  <a:cs typeface="Montserrat ExtraBold"/>
                </a:rPr>
                <a:t>MARKET &amp; GOVT. FIT</a:t>
              </a:r>
            </a:p>
          </p:txBody>
        </p:sp>
        <p:sp>
          <p:nvSpPr>
            <p:cNvPr id="4" name="sources"/>
            <p:cNvSpPr txBox="1"/>
            <p:nvPr/>
          </p:nvSpPr>
          <p:spPr>
            <a:xfrm>
              <a:off x="15011400" y="6134100"/>
              <a:ext cx="2667000" cy="127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>
                <a:lnSpc>
                  <a:spcPct val="95000"/>
                </a:lnSpc>
              </a:pPr>
              <a:r>
                <a:rPr sz="580" b="0" i="1">
                  <a:solidFill>
                    <a:srgbClr val="9AA4B2"/>
                  </a:solidFill>
                  <a:latin typeface="Montserrat Medium"/>
                  <a:ea typeface="Montserrat Medium"/>
                  <a:cs typeface="Montserrat Medium"/>
                </a:rPr>
                <a:t>Mordor Intelligence 2026 · MHA/PIB · NDMA · NRSC</a:t>
              </a:r>
            </a:p>
          </p:txBody>
        </p:sp>
        <p:sp>
          <p:nvSpPr>
            <p:cNvPr id="5" name="kpi – $1.81 B"/>
            <p:cNvSpPr txBox="1"/>
            <p:nvPr/>
          </p:nvSpPr>
          <p:spPr>
            <a:xfrm>
              <a:off x="12522200" y="6350000"/>
              <a:ext cx="1143000" cy="2540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700" b="0" i="0">
                  <a:solidFill>
                    <a:srgbClr val="0B1F44"/>
                  </a:solidFill>
                  <a:latin typeface="Montserrat ExtraBold"/>
                  <a:ea typeface="Montserrat ExtraBold"/>
                  <a:cs typeface="Montserrat ExtraBold"/>
                </a:rPr>
                <a:t>$1.81 B</a:t>
              </a:r>
            </a:p>
          </p:txBody>
        </p:sp>
        <p:sp>
          <p:nvSpPr>
            <p:cNvPr id="6" name="kpi label"/>
            <p:cNvSpPr txBox="1"/>
            <p:nvPr/>
          </p:nvSpPr>
          <p:spPr>
            <a:xfrm>
              <a:off x="12522200" y="6616700"/>
              <a:ext cx="1066800" cy="254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50" b="0" i="0">
                  <a:solidFill>
                    <a:srgbClr val="5B6675"/>
                  </a:solidFill>
                  <a:latin typeface="Montserrat Medium"/>
                  <a:ea typeface="Montserrat Medium"/>
                  <a:cs typeface="Montserrat Medium"/>
                </a:rPr>
                <a:t>India geospatial analytics market, 2026</a:t>
              </a:r>
            </a:p>
          </p:txBody>
        </p:sp>
        <p:sp>
          <p:nvSpPr>
            <p:cNvPr id="7" name="chip – CAGR"/>
            <p:cNvSpPr/>
            <p:nvPr/>
          </p:nvSpPr>
          <p:spPr>
            <a:xfrm>
              <a:off x="12522200" y="6946900"/>
              <a:ext cx="1016000" cy="177800"/>
            </a:xfrm>
            <a:prstGeom prst="roundRect">
              <a:avLst>
                <a:gd name="adj" fmla="val 50000"/>
              </a:avLst>
            </a:prstGeom>
            <a:solidFill>
              <a:srgbClr val="FFF1E6"/>
            </a:solidFill>
            <a:ln w="11430">
              <a:solidFill>
                <a:srgbClr val="E066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hip text – 14.43% CAGR"/>
            <p:cNvSpPr txBox="1"/>
            <p:nvPr/>
          </p:nvSpPr>
          <p:spPr>
            <a:xfrm>
              <a:off x="12522200" y="6946900"/>
              <a:ext cx="1016000" cy="1778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700" b="1" i="0">
                  <a:solidFill>
                    <a:srgbClr val="E0661A"/>
                  </a:solidFill>
                  <a:latin typeface="Montserrat"/>
                  <a:ea typeface="Montserrat"/>
                  <a:cs typeface="Montserrat"/>
                </a:rPr>
                <a:t>14.43% CAGR</a:t>
              </a:r>
            </a:p>
          </p:txBody>
        </p:sp>
        <p:sp>
          <p:nvSpPr>
            <p:cNvPr id="9" name="bar – 2025 $1.58 B"/>
            <p:cNvSpPr/>
            <p:nvPr/>
          </p:nvSpPr>
          <p:spPr>
            <a:xfrm>
              <a:off x="13716000" y="6905580"/>
              <a:ext cx="279400" cy="282620"/>
            </a:xfrm>
            <a:prstGeom prst="rect">
              <a:avLst/>
            </a:prstGeom>
            <a:solidFill>
              <a:srgbClr val="C2C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bar value – 2025"/>
            <p:cNvSpPr txBox="1"/>
            <p:nvPr/>
          </p:nvSpPr>
          <p:spPr>
            <a:xfrm>
              <a:off x="13639800" y="679128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30" b="1" i="0">
                  <a:solidFill>
                    <a:srgbClr val="0B1F44"/>
                  </a:solidFill>
                  <a:latin typeface="Montserrat"/>
                  <a:ea typeface="Montserrat"/>
                  <a:cs typeface="Montserrat"/>
                </a:rPr>
                <a:t>$1.58B</a:t>
              </a:r>
            </a:p>
          </p:txBody>
        </p:sp>
        <p:sp>
          <p:nvSpPr>
            <p:cNvPr id="11" name="bar year – 2025"/>
            <p:cNvSpPr txBox="1"/>
            <p:nvPr/>
          </p:nvSpPr>
          <p:spPr>
            <a:xfrm>
              <a:off x="13639800" y="72136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00" b="0" i="0">
                  <a:solidFill>
                    <a:srgbClr val="5B6675"/>
                  </a:solidFill>
                  <a:latin typeface="Montserrat SemiBold"/>
                  <a:ea typeface="Montserrat SemiBold"/>
                  <a:cs typeface="Montserrat SemiBold"/>
                </a:rPr>
                <a:t>2025</a:t>
              </a:r>
            </a:p>
          </p:txBody>
        </p:sp>
        <p:sp>
          <p:nvSpPr>
            <p:cNvPr id="12" name="bar – 2026 $1.81 B"/>
            <p:cNvSpPr/>
            <p:nvPr/>
          </p:nvSpPr>
          <p:spPr>
            <a:xfrm>
              <a:off x="14097000" y="6864439"/>
              <a:ext cx="279400" cy="323761"/>
            </a:xfrm>
            <a:prstGeom prst="rect">
              <a:avLst/>
            </a:prstGeom>
            <a:solidFill>
              <a:srgbClr val="0C62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bar value – 2026"/>
            <p:cNvSpPr txBox="1"/>
            <p:nvPr/>
          </p:nvSpPr>
          <p:spPr>
            <a:xfrm>
              <a:off x="14020800" y="6750139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30" b="1" i="0">
                  <a:solidFill>
                    <a:srgbClr val="0C62C6"/>
                  </a:solidFill>
                  <a:latin typeface="Montserrat"/>
                  <a:ea typeface="Montserrat"/>
                  <a:cs typeface="Montserrat"/>
                </a:rPr>
                <a:t>$1.81B</a:t>
              </a:r>
            </a:p>
          </p:txBody>
        </p:sp>
        <p:sp>
          <p:nvSpPr>
            <p:cNvPr id="14" name="bar year – 2026"/>
            <p:cNvSpPr txBox="1"/>
            <p:nvPr/>
          </p:nvSpPr>
          <p:spPr>
            <a:xfrm>
              <a:off x="14020800" y="72136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00" b="0" i="0">
                  <a:solidFill>
                    <a:srgbClr val="5B6675"/>
                  </a:solidFill>
                  <a:latin typeface="Montserrat SemiBold"/>
                  <a:ea typeface="Montserrat SemiBold"/>
                  <a:cs typeface="Montserrat SemiBold"/>
                </a:rPr>
                <a:t>2026</a:t>
              </a:r>
            </a:p>
          </p:txBody>
        </p:sp>
        <p:sp>
          <p:nvSpPr>
            <p:cNvPr id="15" name="bar – 2031F $3.55 B"/>
            <p:cNvSpPr/>
            <p:nvPr/>
          </p:nvSpPr>
          <p:spPr>
            <a:xfrm>
              <a:off x="14478000" y="6553200"/>
              <a:ext cx="279400" cy="635000"/>
            </a:xfrm>
            <a:prstGeom prst="rect">
              <a:avLst/>
            </a:prstGeom>
            <a:solidFill>
              <a:srgbClr val="0F7B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bar value – 2031F"/>
            <p:cNvSpPr txBox="1"/>
            <p:nvPr/>
          </p:nvSpPr>
          <p:spPr>
            <a:xfrm>
              <a:off x="14401800" y="64389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30" b="1" i="0">
                  <a:solidFill>
                    <a:srgbClr val="0F7B3D"/>
                  </a:solidFill>
                  <a:latin typeface="Montserrat"/>
                  <a:ea typeface="Montserrat"/>
                  <a:cs typeface="Montserrat"/>
                </a:rPr>
                <a:t>$3.55B</a:t>
              </a:r>
            </a:p>
          </p:txBody>
        </p:sp>
        <p:sp>
          <p:nvSpPr>
            <p:cNvPr id="17" name="bar year – 2031F"/>
            <p:cNvSpPr txBox="1"/>
            <p:nvPr/>
          </p:nvSpPr>
          <p:spPr>
            <a:xfrm>
              <a:off x="14401800" y="72136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00" b="0" i="0">
                  <a:solidFill>
                    <a:srgbClr val="5B6675"/>
                  </a:solidFill>
                  <a:latin typeface="Montserrat SemiBold"/>
                  <a:ea typeface="Montserrat SemiBold"/>
                  <a:cs typeface="Montserrat SemiBold"/>
                </a:rPr>
                <a:t>2031F</a:t>
              </a:r>
            </a:p>
          </p:txBody>
        </p:sp>
        <p:cxnSp>
          <p:nvCxnSpPr>
            <p:cNvPr id="18" name="bar baseline"/>
            <p:cNvCxnSpPr/>
            <p:nvPr/>
          </p:nvCxnSpPr>
          <p:spPr>
            <a:xfrm>
              <a:off x="13665200" y="7188200"/>
              <a:ext cx="1219200" cy="0"/>
            </a:xfrm>
            <a:prstGeom prst="line">
              <a:avLst/>
            </a:prstGeom>
            <a:ln w="10160">
              <a:solidFill>
                <a:srgbClr val="9AA4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vider"/>
            <p:cNvCxnSpPr/>
            <p:nvPr/>
          </p:nvCxnSpPr>
          <p:spPr>
            <a:xfrm>
              <a:off x="15011400" y="6350000"/>
              <a:ext cx="0" cy="977900"/>
            </a:xfrm>
            <a:prstGeom prst="line">
              <a:avLst/>
            </a:prstGeom>
            <a:ln w="10160">
              <a:solidFill>
                <a:srgbClr val="C2CDDD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ovt amount – ₹13,693 cr"/>
            <p:cNvSpPr txBox="1"/>
            <p:nvPr/>
          </p:nvSpPr>
          <p:spPr>
            <a:xfrm>
              <a:off x="15113000" y="635000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C00000"/>
                  </a:solidFill>
                  <a:latin typeface="Montserrat ExtraBold"/>
                  <a:ea typeface="Montserrat ExtraBold"/>
                  <a:cs typeface="Montserrat ExtraBold"/>
                </a:rPr>
                <a:t>₹13,693 cr</a:t>
              </a:r>
            </a:p>
          </p:txBody>
        </p:sp>
        <p:sp>
          <p:nvSpPr>
            <p:cNvPr id="21" name="govt desc – ₹13,693 cr"/>
            <p:cNvSpPr txBox="1"/>
            <p:nvPr/>
          </p:nvSpPr>
          <p:spPr>
            <a:xfrm>
              <a:off x="15849600" y="635000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Disaster Mitigation Fund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(NDMF, 15th FC), 2021–26</a:t>
              </a:r>
            </a:p>
          </p:txBody>
        </p:sp>
        <p:sp>
          <p:nvSpPr>
            <p:cNvPr id="22" name="govt amount – ₹1,000 cr"/>
            <p:cNvSpPr txBox="1"/>
            <p:nvPr/>
          </p:nvSpPr>
          <p:spPr>
            <a:xfrm>
              <a:off x="15113000" y="659765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E0661A"/>
                  </a:solidFill>
                  <a:latin typeface="Montserrat ExtraBold"/>
                  <a:ea typeface="Montserrat ExtraBold"/>
                  <a:cs typeface="Montserrat ExtraBold"/>
                </a:rPr>
                <a:t>₹1,000 cr</a:t>
              </a:r>
            </a:p>
          </p:txBody>
        </p:sp>
        <p:sp>
          <p:nvSpPr>
            <p:cNvPr id="23" name="govt desc – ₹1,000 cr"/>
            <p:cNvSpPr txBox="1"/>
            <p:nvPr/>
          </p:nvSpPr>
          <p:spPr>
            <a:xfrm>
              <a:off x="15849600" y="659765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Landslide mitigation (NLRMP)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15 states · approved Nov 2024</a:t>
              </a:r>
            </a:p>
          </p:txBody>
        </p:sp>
        <p:sp>
          <p:nvSpPr>
            <p:cNvPr id="24" name="govt amount – ₹150 cr"/>
            <p:cNvSpPr txBox="1"/>
            <p:nvPr/>
          </p:nvSpPr>
          <p:spPr>
            <a:xfrm>
              <a:off x="15113000" y="684530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0C62C6"/>
                  </a:solidFill>
                  <a:latin typeface="Montserrat ExtraBold"/>
                  <a:ea typeface="Montserrat ExtraBold"/>
                  <a:cs typeface="Montserrat ExtraBold"/>
                </a:rPr>
                <a:t>₹150 cr</a:t>
              </a:r>
            </a:p>
          </p:txBody>
        </p:sp>
        <p:sp>
          <p:nvSpPr>
            <p:cNvPr id="25" name="govt desc – ₹150 cr"/>
            <p:cNvSpPr txBox="1"/>
            <p:nvPr/>
          </p:nvSpPr>
          <p:spPr>
            <a:xfrm>
              <a:off x="15849600" y="684530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Glacial-lake flood mitigation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Sikkim, HP, UK, Arunachal</a:t>
              </a:r>
            </a:p>
          </p:txBody>
        </p:sp>
        <p:sp>
          <p:nvSpPr>
            <p:cNvPr id="26" name="govt amount – NDEM"/>
            <p:cNvSpPr txBox="1"/>
            <p:nvPr/>
          </p:nvSpPr>
          <p:spPr>
            <a:xfrm>
              <a:off x="15113000" y="709295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8064A2"/>
                  </a:solidFill>
                  <a:latin typeface="Montserrat ExtraBold"/>
                  <a:ea typeface="Montserrat ExtraBold"/>
                  <a:cs typeface="Montserrat ExtraBold"/>
                </a:rPr>
                <a:t>NDEM</a:t>
              </a:r>
            </a:p>
          </p:txBody>
        </p:sp>
        <p:sp>
          <p:nvSpPr>
            <p:cNvPr id="27" name="govt desc – NDEM"/>
            <p:cNvSpPr txBox="1"/>
            <p:nvPr/>
          </p:nvSpPr>
          <p:spPr>
            <a:xfrm>
              <a:off x="15849600" y="709295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ISRO-NRSC disaster geo-portal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built under NDMA guidance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DAHVTj7X39E</dc:identifier>
  <dcterms:modified xsi:type="dcterms:W3CDTF">2011-08-01T06:04:30Z</dcterms:modified>
  <cp:revision>1</cp:revision>
  <dc:title>NMIET_SIH_2026_PPT_Template.pptx</dc:title>
</cp:coreProperties>
</file>